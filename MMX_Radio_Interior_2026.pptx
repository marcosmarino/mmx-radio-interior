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0E1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0972800" cy="365760"/>
          </a:xfrm>
          <a:prstGeom prst="rect">
            <a:avLst/>
          </a:prstGeom>
          <a:noFill/>
        </p:spPr>
        <p:txBody>
          <a:bodyPr wrap="square">
            <a:spAutoFit/>
          </a:bodyPr>
          <a:lstStyle/>
          <a:p>
            <a:pPr algn="l"/>
            <a:r>
              <a:rPr sz="1100" b="1" i="0">
                <a:solidFill>
                  <a:srgbClr val="10B981"/>
                </a:solidFill>
                <a:latin typeface="Calibri"/>
              </a:rPr>
              <a:t>MMX RADIO INTERIOR ARGENTINA · 2026</a:t>
            </a:r>
          </a:p>
        </p:txBody>
      </p:sp>
      <p:sp>
        <p:nvSpPr>
          <p:cNvPr id="4" name="TextBox 3"/>
          <p:cNvSpPr txBox="1"/>
          <p:nvPr/>
        </p:nvSpPr>
        <p:spPr>
          <a:xfrm>
            <a:off x="457200" y="1005840"/>
            <a:ext cx="8229600" cy="3474720"/>
          </a:xfrm>
          <a:prstGeom prst="rect">
            <a:avLst/>
          </a:prstGeom>
          <a:noFill/>
        </p:spPr>
        <p:txBody>
          <a:bodyPr wrap="square">
            <a:spAutoFit/>
          </a:bodyPr>
          <a:lstStyle/>
          <a:p>
            <a:pPr algn="l"/>
            <a:r>
              <a:rPr b="0" sz="5400" i="0">
                <a:solidFill>
                  <a:srgbClr val="FFFFFF"/>
                </a:solidFill>
                <a:latin typeface="Georgia"/>
              </a:rPr>
              <a:t>El interior argentino</a:t>
            </a:r>
          </a:p>
          <a:p>
            <a:pPr algn="l"/>
            <a:r>
              <a:rPr b="0" sz="5400" i="0">
                <a:solidFill>
                  <a:srgbClr val="FFFFFF"/>
                </a:solidFill>
                <a:latin typeface="Georgia"/>
              </a:rPr>
              <a:t>que tu marca</a:t>
            </a:r>
          </a:p>
          <a:p>
            <a:pPr algn="l"/>
            <a:r>
              <a:rPr b="0" sz="5400" i="1">
                <a:solidFill>
                  <a:srgbClr val="10B981"/>
                </a:solidFill>
                <a:latin typeface="Georgia"/>
              </a:rPr>
              <a:t>aún no escucha.</a:t>
            </a:r>
          </a:p>
        </p:txBody>
      </p:sp>
      <p:sp>
        <p:nvSpPr>
          <p:cNvPr id="5" name="TextBox 4"/>
          <p:cNvSpPr txBox="1"/>
          <p:nvPr/>
        </p:nvSpPr>
        <p:spPr>
          <a:xfrm>
            <a:off x="457200" y="4572000"/>
            <a:ext cx="8229600" cy="1097280"/>
          </a:xfrm>
          <a:prstGeom prst="rect">
            <a:avLst/>
          </a:prstGeom>
          <a:noFill/>
        </p:spPr>
        <p:txBody>
          <a:bodyPr wrap="square">
            <a:spAutoFit/>
          </a:bodyPr>
          <a:lstStyle/>
          <a:p>
            <a:pPr algn="l"/>
            <a:r>
              <a:rPr sz="1600" b="0" i="0">
                <a:solidFill>
                  <a:srgbClr val="7A9AB8"/>
                </a:solidFill>
                <a:latin typeface="Calibri"/>
              </a:rPr>
              <a:t>Demografía, economía, radio local y el formato de frecuencia
que ninguna campaña en AMBA puede replicar a este costo.</a:t>
            </a:r>
          </a:p>
        </p:txBody>
      </p:sp>
      <p:sp>
        <p:nvSpPr>
          <p:cNvPr id="6" name="Rectangle 5"/>
          <p:cNvSpPr/>
          <p:nvPr/>
        </p:nvSpPr>
        <p:spPr>
          <a:xfrm>
            <a:off x="457200" y="5943600"/>
            <a:ext cx="11274552" cy="18288"/>
          </a:xfrm>
          <a:prstGeom prst="rect">
            <a:avLst/>
          </a:prstGeom>
          <a:solidFill>
            <a:srgbClr val="1A4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035040"/>
            <a:ext cx="2743200" cy="502920"/>
          </a:xfrm>
          <a:prstGeom prst="rect">
            <a:avLst/>
          </a:prstGeom>
          <a:noFill/>
        </p:spPr>
        <p:txBody>
          <a:bodyPr wrap="square">
            <a:spAutoFit/>
          </a:bodyPr>
          <a:lstStyle/>
          <a:p>
            <a:pPr algn="l"/>
            <a:r>
              <a:rPr sz="2200" b="1" i="0">
                <a:solidFill>
                  <a:srgbClr val="10B981"/>
                </a:solidFill>
                <a:latin typeface="Georgia"/>
              </a:rPr>
              <a:t>64,4%</a:t>
            </a:r>
          </a:p>
        </p:txBody>
      </p:sp>
      <p:sp>
        <p:nvSpPr>
          <p:cNvPr id="8" name="TextBox 7"/>
          <p:cNvSpPr txBox="1"/>
          <p:nvPr/>
        </p:nvSpPr>
        <p:spPr>
          <a:xfrm>
            <a:off x="457200" y="6446520"/>
            <a:ext cx="2743200" cy="320040"/>
          </a:xfrm>
          <a:prstGeom prst="rect">
            <a:avLst/>
          </a:prstGeom>
          <a:noFill/>
        </p:spPr>
        <p:txBody>
          <a:bodyPr wrap="square">
            <a:spAutoFit/>
          </a:bodyPr>
          <a:lstStyle/>
          <a:p>
            <a:pPr algn="l"/>
            <a:r>
              <a:rPr sz="1100" b="0" i="0">
                <a:solidFill>
                  <a:srgbClr val="A09E98"/>
                </a:solidFill>
                <a:latin typeface="Calibri"/>
              </a:rPr>
              <a:t>del país es interior</a:t>
            </a:r>
          </a:p>
        </p:txBody>
      </p:sp>
      <p:sp>
        <p:nvSpPr>
          <p:cNvPr id="9" name="TextBox 8"/>
          <p:cNvSpPr txBox="1"/>
          <p:nvPr/>
        </p:nvSpPr>
        <p:spPr>
          <a:xfrm>
            <a:off x="3383280" y="6035040"/>
            <a:ext cx="2743200" cy="502920"/>
          </a:xfrm>
          <a:prstGeom prst="rect">
            <a:avLst/>
          </a:prstGeom>
          <a:noFill/>
        </p:spPr>
        <p:txBody>
          <a:bodyPr wrap="square">
            <a:spAutoFit/>
          </a:bodyPr>
          <a:lstStyle/>
          <a:p>
            <a:pPr algn="l"/>
            <a:r>
              <a:rPr sz="2200" b="1" i="0">
                <a:solidFill>
                  <a:srgbClr val="10B981"/>
                </a:solidFill>
                <a:latin typeface="Georgia"/>
              </a:rPr>
              <a:t>7,7M</a:t>
            </a:r>
          </a:p>
        </p:txBody>
      </p:sp>
      <p:sp>
        <p:nvSpPr>
          <p:cNvPr id="10" name="TextBox 9"/>
          <p:cNvSpPr txBox="1"/>
          <p:nvPr/>
        </p:nvSpPr>
        <p:spPr>
          <a:xfrm>
            <a:off x="3383280" y="6446520"/>
            <a:ext cx="2743200" cy="320040"/>
          </a:xfrm>
          <a:prstGeom prst="rect">
            <a:avLst/>
          </a:prstGeom>
          <a:noFill/>
        </p:spPr>
        <p:txBody>
          <a:bodyPr wrap="square">
            <a:spAutoFit/>
          </a:bodyPr>
          <a:lstStyle/>
          <a:p>
            <a:pPr algn="l"/>
            <a:r>
              <a:rPr sz="1100" b="0" i="0">
                <a:solidFill>
                  <a:srgbClr val="A09E98"/>
                </a:solidFill>
                <a:latin typeface="Calibri"/>
              </a:rPr>
              <a:t>personas únicas alcanzables</a:t>
            </a:r>
          </a:p>
        </p:txBody>
      </p:sp>
      <p:sp>
        <p:nvSpPr>
          <p:cNvPr id="11" name="TextBox 10"/>
          <p:cNvSpPr txBox="1"/>
          <p:nvPr/>
        </p:nvSpPr>
        <p:spPr>
          <a:xfrm>
            <a:off x="6309360" y="6035040"/>
            <a:ext cx="2743200" cy="502920"/>
          </a:xfrm>
          <a:prstGeom prst="rect">
            <a:avLst/>
          </a:prstGeom>
          <a:noFill/>
        </p:spPr>
        <p:txBody>
          <a:bodyPr wrap="square">
            <a:spAutoFit/>
          </a:bodyPr>
          <a:lstStyle/>
          <a:p>
            <a:pPr algn="l"/>
            <a:r>
              <a:rPr sz="2200" b="1" i="0">
                <a:solidFill>
                  <a:srgbClr val="10B981"/>
                </a:solidFill>
                <a:latin typeface="Georgia"/>
              </a:rPr>
              <a:t>×120</a:t>
            </a:r>
          </a:p>
        </p:txBody>
      </p:sp>
      <p:sp>
        <p:nvSpPr>
          <p:cNvPr id="12" name="TextBox 11"/>
          <p:cNvSpPr txBox="1"/>
          <p:nvPr/>
        </p:nvSpPr>
        <p:spPr>
          <a:xfrm>
            <a:off x="6309360" y="6446520"/>
            <a:ext cx="2743200" cy="320040"/>
          </a:xfrm>
          <a:prstGeom prst="rect">
            <a:avLst/>
          </a:prstGeom>
          <a:noFill/>
        </p:spPr>
        <p:txBody>
          <a:bodyPr wrap="square">
            <a:spAutoFit/>
          </a:bodyPr>
          <a:lstStyle/>
          <a:p>
            <a:pPr algn="l"/>
            <a:r>
              <a:rPr sz="1100" b="0" i="0">
                <a:solidFill>
                  <a:srgbClr val="A09E98"/>
                </a:solidFill>
                <a:latin typeface="Calibri"/>
              </a:rPr>
              <a:t>avisos por radio por mes</a:t>
            </a:r>
          </a:p>
        </p:txBody>
      </p:sp>
      <p:sp>
        <p:nvSpPr>
          <p:cNvPr id="13" name="TextBox 12"/>
          <p:cNvSpPr txBox="1"/>
          <p:nvPr/>
        </p:nvSpPr>
        <p:spPr>
          <a:xfrm>
            <a:off x="9235440" y="6035040"/>
            <a:ext cx="2743200" cy="502920"/>
          </a:xfrm>
          <a:prstGeom prst="rect">
            <a:avLst/>
          </a:prstGeom>
          <a:noFill/>
        </p:spPr>
        <p:txBody>
          <a:bodyPr wrap="square">
            <a:spAutoFit/>
          </a:bodyPr>
          <a:lstStyle/>
          <a:p>
            <a:pPr algn="l"/>
            <a:r>
              <a:rPr sz="2200" b="1" i="0">
                <a:solidFill>
                  <a:srgbClr val="10B981"/>
                </a:solidFill>
                <a:latin typeface="Georgia"/>
              </a:rPr>
              <a:t>$7,79</a:t>
            </a:r>
          </a:p>
        </p:txBody>
      </p:sp>
      <p:sp>
        <p:nvSpPr>
          <p:cNvPr id="14" name="TextBox 13"/>
          <p:cNvSpPr txBox="1"/>
          <p:nvPr/>
        </p:nvSpPr>
        <p:spPr>
          <a:xfrm>
            <a:off x="9235440" y="6446520"/>
            <a:ext cx="2743200" cy="320040"/>
          </a:xfrm>
          <a:prstGeom prst="rect">
            <a:avLst/>
          </a:prstGeom>
          <a:noFill/>
        </p:spPr>
        <p:txBody>
          <a:bodyPr wrap="square">
            <a:spAutoFit/>
          </a:bodyPr>
          <a:lstStyle/>
          <a:p>
            <a:pPr algn="l"/>
            <a:r>
              <a:rPr sz="1100" b="0" i="0">
                <a:solidFill>
                  <a:srgbClr val="A09E98"/>
                </a:solidFill>
                <a:latin typeface="Calibri"/>
              </a:rPr>
              <a:t>CPM objetivo ARS/persona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0E8"/>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D4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74320"/>
            <a:ext cx="10972800" cy="365760"/>
          </a:xfrm>
          <a:prstGeom prst="rect">
            <a:avLst/>
          </a:prstGeom>
          <a:noFill/>
        </p:spPr>
        <p:txBody>
          <a:bodyPr wrap="square">
            <a:spAutoFit/>
          </a:bodyPr>
          <a:lstStyle/>
          <a:p>
            <a:pPr algn="l"/>
            <a:r>
              <a:rPr sz="1100" b="1" i="0">
                <a:solidFill>
                  <a:srgbClr val="0D4FA8"/>
                </a:solidFill>
                <a:latin typeface="Calibri"/>
              </a:rPr>
              <a:t>EL INTERIOR ES ARGENTINA</a:t>
            </a:r>
          </a:p>
        </p:txBody>
      </p:sp>
      <p:sp>
        <p:nvSpPr>
          <p:cNvPr id="4" name="TextBox 3"/>
          <p:cNvSpPr txBox="1"/>
          <p:nvPr/>
        </p:nvSpPr>
        <p:spPr>
          <a:xfrm>
            <a:off x="365760" y="685800"/>
            <a:ext cx="8229600" cy="1097280"/>
          </a:xfrm>
          <a:prstGeom prst="rect">
            <a:avLst/>
          </a:prstGeom>
          <a:noFill/>
        </p:spPr>
        <p:txBody>
          <a:bodyPr wrap="square">
            <a:spAutoFit/>
          </a:bodyPr>
          <a:lstStyle/>
          <a:p>
            <a:pPr algn="l"/>
            <a:r>
              <a:rPr b="1" sz="3600" i="0">
                <a:solidFill>
                  <a:srgbClr val="181410"/>
                </a:solidFill>
                <a:latin typeface="Georgia"/>
              </a:rPr>
              <a:t>El 64,4% de los argentinos</a:t>
            </a:r>
          </a:p>
          <a:p>
            <a:pPr algn="l"/>
            <a:r>
              <a:rPr b="0" sz="3600" i="0">
                <a:solidFill>
                  <a:srgbClr val="181410"/>
                </a:solidFill>
                <a:latin typeface="Georgia"/>
              </a:rPr>
              <a:t> vive fuera del AMBA.</a:t>
            </a:r>
          </a:p>
        </p:txBody>
      </p:sp>
      <p:sp>
        <p:nvSpPr>
          <p:cNvPr id="5" name="Rectangle 4"/>
          <p:cNvSpPr/>
          <p:nvPr/>
        </p:nvSpPr>
        <p:spPr>
          <a:xfrm>
            <a:off x="365760" y="1920240"/>
            <a:ext cx="5303520" cy="914400"/>
          </a:xfrm>
          <a:prstGeom prst="rect">
            <a:avLst/>
          </a:prstGeom>
          <a:solidFill>
            <a:srgbClr val="0D4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65960"/>
            <a:ext cx="2286000" cy="777240"/>
          </a:xfrm>
          <a:prstGeom prst="rect">
            <a:avLst/>
          </a:prstGeom>
          <a:noFill/>
        </p:spPr>
        <p:txBody>
          <a:bodyPr wrap="square">
            <a:spAutoFit/>
          </a:bodyPr>
          <a:lstStyle/>
          <a:p>
            <a:pPr algn="l"/>
            <a:r>
              <a:rPr sz="4200" b="1" i="0">
                <a:solidFill>
                  <a:srgbClr val="FFFFFF"/>
                </a:solidFill>
                <a:latin typeface="Georgia"/>
              </a:rPr>
              <a:t>35,6%</a:t>
            </a:r>
          </a:p>
        </p:txBody>
      </p:sp>
      <p:sp>
        <p:nvSpPr>
          <p:cNvPr id="7" name="TextBox 6"/>
          <p:cNvSpPr txBox="1"/>
          <p:nvPr/>
        </p:nvSpPr>
        <p:spPr>
          <a:xfrm>
            <a:off x="2834640" y="2011680"/>
            <a:ext cx="2560320" cy="777240"/>
          </a:xfrm>
          <a:prstGeom prst="rect">
            <a:avLst/>
          </a:prstGeom>
          <a:noFill/>
        </p:spPr>
        <p:txBody>
          <a:bodyPr wrap="square">
            <a:spAutoFit/>
          </a:bodyPr>
          <a:lstStyle/>
          <a:p>
            <a:pPr algn="l"/>
            <a:r>
              <a:rPr b="1" sz="1400" i="0">
                <a:solidFill>
                  <a:srgbClr val="FFFFFF"/>
                </a:solidFill>
                <a:latin typeface="Calibri"/>
              </a:rPr>
              <a:t>concentra el AMBA</a:t>
            </a:r>
          </a:p>
          <a:p>
            <a:pPr algn="l"/>
            <a:r>
              <a:rPr b="0" sz="1100" i="0">
                <a:solidFill>
                  <a:srgbClr val="B0CCFF"/>
                </a:solidFill>
                <a:latin typeface="Calibri"/>
              </a:rPr>
              <a:t>16,4M personas en 13.267 km²</a:t>
            </a:r>
          </a:p>
        </p:txBody>
      </p:sp>
      <p:sp>
        <p:nvSpPr>
          <p:cNvPr id="8" name="Rectangle 7"/>
          <p:cNvSpPr/>
          <p:nvPr/>
        </p:nvSpPr>
        <p:spPr>
          <a:xfrm>
            <a:off x="365760" y="2926080"/>
            <a:ext cx="5303520" cy="91440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971800"/>
            <a:ext cx="2286000" cy="777240"/>
          </a:xfrm>
          <a:prstGeom prst="rect">
            <a:avLst/>
          </a:prstGeom>
          <a:noFill/>
        </p:spPr>
        <p:txBody>
          <a:bodyPr wrap="square">
            <a:spAutoFit/>
          </a:bodyPr>
          <a:lstStyle/>
          <a:p>
            <a:pPr algn="l"/>
            <a:r>
              <a:rPr sz="4200" b="1" i="0">
                <a:solidFill>
                  <a:srgbClr val="10B981"/>
                </a:solidFill>
                <a:latin typeface="Georgia"/>
              </a:rPr>
              <a:t>64,4%</a:t>
            </a:r>
          </a:p>
        </p:txBody>
      </p:sp>
      <p:sp>
        <p:nvSpPr>
          <p:cNvPr id="10" name="TextBox 9"/>
          <p:cNvSpPr txBox="1"/>
          <p:nvPr/>
        </p:nvSpPr>
        <p:spPr>
          <a:xfrm>
            <a:off x="2834640" y="3017520"/>
            <a:ext cx="2560320" cy="777240"/>
          </a:xfrm>
          <a:prstGeom prst="rect">
            <a:avLst/>
          </a:prstGeom>
          <a:noFill/>
        </p:spPr>
        <p:txBody>
          <a:bodyPr wrap="square">
            <a:spAutoFit/>
          </a:bodyPr>
          <a:lstStyle/>
          <a:p>
            <a:pPr algn="l"/>
            <a:r>
              <a:rPr b="1" sz="1400" i="0">
                <a:solidFill>
                  <a:srgbClr val="FFFFFF"/>
                </a:solidFill>
                <a:latin typeface="Calibri"/>
              </a:rPr>
              <a:t>vive en el interior</a:t>
            </a:r>
          </a:p>
          <a:p>
            <a:pPr algn="l"/>
            <a:r>
              <a:rPr b="0" sz="1100" i="0">
                <a:solidFill>
                  <a:srgbClr val="A09E98"/>
                </a:solidFill>
                <a:latin typeface="Calibri"/>
              </a:rPr>
              <a:t>~29,8M personas · 24 provincias</a:t>
            </a:r>
          </a:p>
        </p:txBody>
      </p:sp>
      <p:sp>
        <p:nvSpPr>
          <p:cNvPr id="11" name="TextBox 10"/>
          <p:cNvSpPr txBox="1"/>
          <p:nvPr/>
        </p:nvSpPr>
        <p:spPr>
          <a:xfrm>
            <a:off x="6400800" y="1828800"/>
            <a:ext cx="5212080" cy="2926080"/>
          </a:xfrm>
          <a:prstGeom prst="rect">
            <a:avLst/>
          </a:prstGeom>
          <a:noFill/>
        </p:spPr>
        <p:txBody>
          <a:bodyPr wrap="square">
            <a:spAutoFit/>
          </a:bodyPr>
          <a:lstStyle/>
          <a:p>
            <a:pPr algn="l">
              <a:spcBef>
                <a:spcPts val="200"/>
              </a:spcBef>
            </a:pPr>
            <a:r>
              <a:rPr b="1" sz="1300" i="0">
                <a:solidFill>
                  <a:srgbClr val="6B6157"/>
                </a:solidFill>
                <a:latin typeface="Calibri"/>
              </a:rPr>
              <a:t>Las 5 ciudades más grandes del interior:</a:t>
            </a:r>
          </a:p>
          <a:p>
            <a:pPr algn="l">
              <a:spcBef>
                <a:spcPts val="200"/>
              </a:spcBef>
            </a:pPr>
            <a:r>
              <a:rPr b="0" sz="600" i="0">
                <a:solidFill>
                  <a:srgbClr val="FFFFFF"/>
                </a:solidFill>
                <a:latin typeface="Calibri"/>
              </a:rPr>
              <a:t> </a:t>
            </a:r>
          </a:p>
          <a:p>
            <a:pPr algn="l">
              <a:spcBef>
                <a:spcPts val="200"/>
              </a:spcBef>
            </a:pPr>
            <a:r>
              <a:rPr b="0" sz="1300" i="0">
                <a:solidFill>
                  <a:srgbClr val="181410"/>
                </a:solidFill>
                <a:latin typeface="Calibri"/>
              </a:rPr>
              <a:t>  Gran Córdoba      1.565.112 hab.</a:t>
            </a:r>
          </a:p>
          <a:p>
            <a:pPr algn="l">
              <a:spcBef>
                <a:spcPts val="200"/>
              </a:spcBef>
            </a:pPr>
            <a:r>
              <a:rPr b="0" sz="1300" i="0">
                <a:solidFill>
                  <a:srgbClr val="181410"/>
                </a:solidFill>
                <a:latin typeface="Calibri"/>
              </a:rPr>
              <a:t>  Gran Rosario       1.539.946 hab.</a:t>
            </a:r>
          </a:p>
          <a:p>
            <a:pPr algn="l">
              <a:spcBef>
                <a:spcPts val="200"/>
              </a:spcBef>
            </a:pPr>
            <a:r>
              <a:rPr b="0" sz="1300" i="0">
                <a:solidFill>
                  <a:srgbClr val="181410"/>
                </a:solidFill>
                <a:latin typeface="Calibri"/>
              </a:rPr>
              <a:t>  Gran Tucumán     ~900.000 hab.</a:t>
            </a:r>
          </a:p>
          <a:p>
            <a:pPr algn="l">
              <a:spcBef>
                <a:spcPts val="200"/>
              </a:spcBef>
            </a:pPr>
            <a:r>
              <a:rPr b="0" sz="1300" i="0">
                <a:solidFill>
                  <a:srgbClr val="181410"/>
                </a:solidFill>
                <a:latin typeface="Calibri"/>
              </a:rPr>
              <a:t>  Gran Mendoza     ~1.000.000 hab.</a:t>
            </a:r>
          </a:p>
          <a:p>
            <a:pPr algn="l">
              <a:spcBef>
                <a:spcPts val="200"/>
              </a:spcBef>
            </a:pPr>
            <a:r>
              <a:rPr b="0" sz="1300" i="0">
                <a:solidFill>
                  <a:srgbClr val="181410"/>
                </a:solidFill>
                <a:latin typeface="Calibri"/>
              </a:rPr>
              <a:t>  Gran Salta          ~700.000 hab.</a:t>
            </a:r>
          </a:p>
        </p:txBody>
      </p:sp>
      <p:sp>
        <p:nvSpPr>
          <p:cNvPr id="12" name="TextBox 11"/>
          <p:cNvSpPr txBox="1"/>
          <p:nvPr/>
        </p:nvSpPr>
        <p:spPr>
          <a:xfrm>
            <a:off x="365760" y="3977639"/>
            <a:ext cx="11338560" cy="640080"/>
          </a:xfrm>
          <a:prstGeom prst="rect">
            <a:avLst/>
          </a:prstGeom>
          <a:noFill/>
        </p:spPr>
        <p:txBody>
          <a:bodyPr wrap="square">
            <a:spAutoFit/>
          </a:bodyPr>
          <a:lstStyle/>
          <a:p>
            <a:pPr algn="l"/>
            <a:r>
              <a:rPr sz="1200" b="0" i="1">
                <a:solidFill>
                  <a:srgbClr val="6B6157"/>
                </a:solidFill>
                <a:latin typeface="Calibri"/>
              </a:rPr>
              <a:t>Tendencia: el peso del AMBA en el total nacional bajó de 36,8% (2010) a 35,6% (2022). El interior crece más rápido.</a:t>
            </a:r>
          </a:p>
        </p:txBody>
      </p:sp>
      <p:sp>
        <p:nvSpPr>
          <p:cNvPr id="13" name="TextBox 12"/>
          <p:cNvSpPr txBox="1"/>
          <p:nvPr/>
        </p:nvSpPr>
        <p:spPr>
          <a:xfrm>
            <a:off x="365760" y="6400800"/>
            <a:ext cx="11430000" cy="347472"/>
          </a:xfrm>
          <a:prstGeom prst="rect">
            <a:avLst/>
          </a:prstGeom>
          <a:noFill/>
        </p:spPr>
        <p:txBody>
          <a:bodyPr wrap="square">
            <a:spAutoFit/>
          </a:bodyPr>
          <a:lstStyle/>
          <a:p>
            <a:pPr algn="l"/>
            <a:r>
              <a:rPr sz="900" b="0" i="1">
                <a:solidFill>
                  <a:srgbClr val="A09E98"/>
                </a:solidFill>
                <a:latin typeface="Calibri"/>
              </a:rPr>
              <a:t>Fuente: INDEC, Censo Nacional de Población, Hogares y Viviendas 2022 · Fundación Tejido Urbano, análisis 2023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0E8"/>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74320"/>
            <a:ext cx="10972800" cy="365760"/>
          </a:xfrm>
          <a:prstGeom prst="rect">
            <a:avLst/>
          </a:prstGeom>
          <a:noFill/>
        </p:spPr>
        <p:txBody>
          <a:bodyPr wrap="square">
            <a:spAutoFit/>
          </a:bodyPr>
          <a:lstStyle/>
          <a:p>
            <a:pPr algn="l"/>
            <a:r>
              <a:rPr sz="1100" b="1" i="0">
                <a:solidFill>
                  <a:srgbClr val="047857"/>
                </a:solidFill>
                <a:latin typeface="Calibri"/>
              </a:rPr>
              <a:t>EL INTERIOR PRODUCE, EXPORTA Y CONSUME</a:t>
            </a:r>
          </a:p>
        </p:txBody>
      </p:sp>
      <p:sp>
        <p:nvSpPr>
          <p:cNvPr id="4" name="TextBox 3"/>
          <p:cNvSpPr txBox="1"/>
          <p:nvPr/>
        </p:nvSpPr>
        <p:spPr>
          <a:xfrm>
            <a:off x="365760" y="685800"/>
            <a:ext cx="10972800" cy="914400"/>
          </a:xfrm>
          <a:prstGeom prst="rect">
            <a:avLst/>
          </a:prstGeom>
          <a:noFill/>
        </p:spPr>
        <p:txBody>
          <a:bodyPr wrap="square">
            <a:spAutoFit/>
          </a:bodyPr>
          <a:lstStyle/>
          <a:p>
            <a:pPr algn="l"/>
            <a:r>
              <a:rPr b="1" sz="3400" i="0">
                <a:solidFill>
                  <a:srgbClr val="181410"/>
                </a:solidFill>
                <a:latin typeface="Georgia"/>
              </a:rPr>
              <a:t>El motor productivo </a:t>
            </a:r>
          </a:p>
          <a:p>
            <a:pPr algn="l"/>
            <a:r>
              <a:rPr b="0" sz="3400" i="0">
                <a:solidFill>
                  <a:srgbClr val="181410"/>
                </a:solidFill>
                <a:latin typeface="Georgia"/>
              </a:rPr>
              <a:t>del país está afuera del AMBA.</a:t>
            </a:r>
          </a:p>
        </p:txBody>
      </p:sp>
      <p:sp>
        <p:nvSpPr>
          <p:cNvPr id="5" name="Rectangle 4"/>
          <p:cNvSpPr/>
          <p:nvPr/>
        </p:nvSpPr>
        <p:spPr>
          <a:xfrm>
            <a:off x="365760" y="1828800"/>
            <a:ext cx="2743200" cy="2286000"/>
          </a:xfrm>
          <a:prstGeom prst="rect">
            <a:avLst/>
          </a:prstGeom>
          <a:solidFill>
            <a:srgbClr val="040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938528"/>
            <a:ext cx="2468880" cy="1028700"/>
          </a:xfrm>
          <a:prstGeom prst="rect">
            <a:avLst/>
          </a:prstGeom>
          <a:noFill/>
        </p:spPr>
        <p:txBody>
          <a:bodyPr wrap="square">
            <a:spAutoFit/>
          </a:bodyPr>
          <a:lstStyle/>
          <a:p>
            <a:pPr algn="ctr"/>
            <a:r>
              <a:rPr sz="4200" b="1" i="0">
                <a:solidFill>
                  <a:srgbClr val="10B981"/>
                </a:solidFill>
                <a:latin typeface="Georgia"/>
              </a:rPr>
              <a:t>USD 16,1B</a:t>
            </a:r>
          </a:p>
        </p:txBody>
      </p:sp>
      <p:sp>
        <p:nvSpPr>
          <p:cNvPr id="7" name="TextBox 6"/>
          <p:cNvSpPr txBox="1"/>
          <p:nvPr/>
        </p:nvSpPr>
        <p:spPr>
          <a:xfrm>
            <a:off x="457200" y="2971800"/>
            <a:ext cx="2560320" cy="640080"/>
          </a:xfrm>
          <a:prstGeom prst="rect">
            <a:avLst/>
          </a:prstGeom>
          <a:noFill/>
        </p:spPr>
        <p:txBody>
          <a:bodyPr wrap="square">
            <a:spAutoFit/>
          </a:bodyPr>
          <a:lstStyle/>
          <a:p>
            <a:pPr algn="ctr"/>
            <a:r>
              <a:rPr sz="1300" b="0" i="0">
                <a:solidFill>
                  <a:srgbClr val="FFFFFF"/>
                </a:solidFill>
                <a:latin typeface="Calibri"/>
              </a:rPr>
              <a:t>exportaciones
Santa Fe 2025</a:t>
            </a:r>
          </a:p>
        </p:txBody>
      </p:sp>
      <p:sp>
        <p:nvSpPr>
          <p:cNvPr id="8" name="TextBox 7"/>
          <p:cNvSpPr txBox="1"/>
          <p:nvPr/>
        </p:nvSpPr>
        <p:spPr>
          <a:xfrm>
            <a:off x="457200" y="3566160"/>
            <a:ext cx="2560320" cy="502920"/>
          </a:xfrm>
          <a:prstGeom prst="rect">
            <a:avLst/>
          </a:prstGeom>
          <a:noFill/>
        </p:spPr>
        <p:txBody>
          <a:bodyPr wrap="square">
            <a:spAutoFit/>
          </a:bodyPr>
          <a:lstStyle/>
          <a:p>
            <a:pPr algn="ctr"/>
            <a:r>
              <a:rPr sz="1000" b="0" i="1">
                <a:solidFill>
                  <a:srgbClr val="A09E98"/>
                </a:solidFill>
                <a:latin typeface="Calibri"/>
              </a:rPr>
              <a:t>18,6% del total nacional</a:t>
            </a:r>
          </a:p>
        </p:txBody>
      </p:sp>
      <p:sp>
        <p:nvSpPr>
          <p:cNvPr id="9" name="Rectangle 8"/>
          <p:cNvSpPr/>
          <p:nvPr/>
        </p:nvSpPr>
        <p:spPr>
          <a:xfrm>
            <a:off x="3291840" y="1828800"/>
            <a:ext cx="2743200" cy="228600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1938528"/>
            <a:ext cx="2468880" cy="1028700"/>
          </a:xfrm>
          <a:prstGeom prst="rect">
            <a:avLst/>
          </a:prstGeom>
          <a:noFill/>
        </p:spPr>
        <p:txBody>
          <a:bodyPr wrap="square">
            <a:spAutoFit/>
          </a:bodyPr>
          <a:lstStyle/>
          <a:p>
            <a:pPr algn="ctr"/>
            <a:r>
              <a:rPr sz="4200" b="1" i="0">
                <a:solidFill>
                  <a:srgbClr val="10B981"/>
                </a:solidFill>
                <a:latin typeface="Georgia"/>
              </a:rPr>
              <a:t>USD 10,9B</a:t>
            </a:r>
          </a:p>
        </p:txBody>
      </p:sp>
      <p:sp>
        <p:nvSpPr>
          <p:cNvPr id="11" name="TextBox 10"/>
          <p:cNvSpPr txBox="1"/>
          <p:nvPr/>
        </p:nvSpPr>
        <p:spPr>
          <a:xfrm>
            <a:off x="3383280" y="2971800"/>
            <a:ext cx="2560320" cy="640080"/>
          </a:xfrm>
          <a:prstGeom prst="rect">
            <a:avLst/>
          </a:prstGeom>
          <a:noFill/>
        </p:spPr>
        <p:txBody>
          <a:bodyPr wrap="square">
            <a:spAutoFit/>
          </a:bodyPr>
          <a:lstStyle/>
          <a:p>
            <a:pPr algn="ctr"/>
            <a:r>
              <a:rPr sz="1300" b="0" i="0">
                <a:solidFill>
                  <a:srgbClr val="FFFFFF"/>
                </a:solidFill>
                <a:latin typeface="Calibri"/>
              </a:rPr>
              <a:t>exportaciones
Córdoba 2025</a:t>
            </a:r>
          </a:p>
        </p:txBody>
      </p:sp>
      <p:sp>
        <p:nvSpPr>
          <p:cNvPr id="12" name="TextBox 11"/>
          <p:cNvSpPr txBox="1"/>
          <p:nvPr/>
        </p:nvSpPr>
        <p:spPr>
          <a:xfrm>
            <a:off x="3383280" y="3566160"/>
            <a:ext cx="2560320" cy="502920"/>
          </a:xfrm>
          <a:prstGeom prst="rect">
            <a:avLst/>
          </a:prstGeom>
          <a:noFill/>
        </p:spPr>
        <p:txBody>
          <a:bodyPr wrap="square">
            <a:spAutoFit/>
          </a:bodyPr>
          <a:lstStyle/>
          <a:p>
            <a:pPr algn="ctr"/>
            <a:r>
              <a:rPr sz="1000" b="0" i="1">
                <a:solidFill>
                  <a:srgbClr val="A09E98"/>
                </a:solidFill>
                <a:latin typeface="Calibri"/>
              </a:rPr>
              <a:t>12,5% del total nacional</a:t>
            </a:r>
          </a:p>
        </p:txBody>
      </p:sp>
      <p:sp>
        <p:nvSpPr>
          <p:cNvPr id="13" name="Rectangle 12"/>
          <p:cNvSpPr/>
          <p:nvPr/>
        </p:nvSpPr>
        <p:spPr>
          <a:xfrm>
            <a:off x="6217920" y="1828800"/>
            <a:ext cx="2743200" cy="2286000"/>
          </a:xfrm>
          <a:prstGeom prst="rect">
            <a:avLst/>
          </a:prstGeom>
          <a:solidFill>
            <a:srgbClr val="040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938528"/>
            <a:ext cx="2468880" cy="1028700"/>
          </a:xfrm>
          <a:prstGeom prst="rect">
            <a:avLst/>
          </a:prstGeom>
          <a:noFill/>
        </p:spPr>
        <p:txBody>
          <a:bodyPr wrap="square">
            <a:spAutoFit/>
          </a:bodyPr>
          <a:lstStyle/>
          <a:p>
            <a:pPr algn="ctr"/>
            <a:r>
              <a:rPr sz="4200" b="1" i="0">
                <a:solidFill>
                  <a:srgbClr val="10B981"/>
                </a:solidFill>
                <a:latin typeface="Georgia"/>
              </a:rPr>
              <a:t>USD 4,5B</a:t>
            </a:r>
          </a:p>
        </p:txBody>
      </p:sp>
      <p:sp>
        <p:nvSpPr>
          <p:cNvPr id="15" name="TextBox 14"/>
          <p:cNvSpPr txBox="1"/>
          <p:nvPr/>
        </p:nvSpPr>
        <p:spPr>
          <a:xfrm>
            <a:off x="6309360" y="2971800"/>
            <a:ext cx="2560320" cy="640080"/>
          </a:xfrm>
          <a:prstGeom prst="rect">
            <a:avLst/>
          </a:prstGeom>
          <a:noFill/>
        </p:spPr>
        <p:txBody>
          <a:bodyPr wrap="square">
            <a:spAutoFit/>
          </a:bodyPr>
          <a:lstStyle/>
          <a:p>
            <a:pPr algn="ctr"/>
            <a:r>
              <a:rPr sz="1300" b="0" i="0">
                <a:solidFill>
                  <a:srgbClr val="FFFFFF"/>
                </a:solidFill>
                <a:latin typeface="Calibri"/>
              </a:rPr>
              <a:t>exportaciones
Neuquén · Vaca Muerta</a:t>
            </a:r>
          </a:p>
        </p:txBody>
      </p:sp>
      <p:sp>
        <p:nvSpPr>
          <p:cNvPr id="16" name="TextBox 15"/>
          <p:cNvSpPr txBox="1"/>
          <p:nvPr/>
        </p:nvSpPr>
        <p:spPr>
          <a:xfrm>
            <a:off x="6309360" y="3566160"/>
            <a:ext cx="2560320" cy="502920"/>
          </a:xfrm>
          <a:prstGeom prst="rect">
            <a:avLst/>
          </a:prstGeom>
          <a:noFill/>
        </p:spPr>
        <p:txBody>
          <a:bodyPr wrap="square">
            <a:spAutoFit/>
          </a:bodyPr>
          <a:lstStyle/>
          <a:p>
            <a:pPr algn="ctr"/>
            <a:r>
              <a:rPr sz="1000" b="0" i="1">
                <a:solidFill>
                  <a:srgbClr val="A09E98"/>
                </a:solidFill>
                <a:latin typeface="Calibri"/>
              </a:rPr>
              <a:t>sector energético</a:t>
            </a:r>
          </a:p>
        </p:txBody>
      </p:sp>
      <p:sp>
        <p:nvSpPr>
          <p:cNvPr id="17" name="Rectangle 16"/>
          <p:cNvSpPr/>
          <p:nvPr/>
        </p:nvSpPr>
        <p:spPr>
          <a:xfrm>
            <a:off x="9144000" y="1828800"/>
            <a:ext cx="2743200" cy="228600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81160" y="1938528"/>
            <a:ext cx="2468880" cy="1028700"/>
          </a:xfrm>
          <a:prstGeom prst="rect">
            <a:avLst/>
          </a:prstGeom>
          <a:noFill/>
        </p:spPr>
        <p:txBody>
          <a:bodyPr wrap="square">
            <a:spAutoFit/>
          </a:bodyPr>
          <a:lstStyle/>
          <a:p>
            <a:pPr algn="ctr"/>
            <a:r>
              <a:rPr sz="4200" b="1" i="0">
                <a:solidFill>
                  <a:srgbClr val="FBBF24"/>
                </a:solidFill>
                <a:latin typeface="Georgia"/>
              </a:rPr>
              <a:t>$3.274.627</a:t>
            </a:r>
          </a:p>
        </p:txBody>
      </p:sp>
      <p:sp>
        <p:nvSpPr>
          <p:cNvPr id="19" name="TextBox 18"/>
          <p:cNvSpPr txBox="1"/>
          <p:nvPr/>
        </p:nvSpPr>
        <p:spPr>
          <a:xfrm>
            <a:off x="9235440" y="2971800"/>
            <a:ext cx="2560320" cy="640080"/>
          </a:xfrm>
          <a:prstGeom prst="rect">
            <a:avLst/>
          </a:prstGeom>
          <a:noFill/>
        </p:spPr>
        <p:txBody>
          <a:bodyPr wrap="square">
            <a:spAutoFit/>
          </a:bodyPr>
          <a:lstStyle/>
          <a:p>
            <a:pPr algn="ctr"/>
            <a:r>
              <a:rPr sz="1300" b="0" i="0">
                <a:solidFill>
                  <a:srgbClr val="FFFFFF"/>
                </a:solidFill>
                <a:latin typeface="Calibri"/>
              </a:rPr>
              <a:t>salario promedio bruto
Neuquén</a:t>
            </a:r>
          </a:p>
        </p:txBody>
      </p:sp>
      <p:sp>
        <p:nvSpPr>
          <p:cNvPr id="20" name="TextBox 19"/>
          <p:cNvSpPr txBox="1"/>
          <p:nvPr/>
        </p:nvSpPr>
        <p:spPr>
          <a:xfrm>
            <a:off x="9235440" y="3566160"/>
            <a:ext cx="2560320" cy="502920"/>
          </a:xfrm>
          <a:prstGeom prst="rect">
            <a:avLst/>
          </a:prstGeom>
          <a:noFill/>
        </p:spPr>
        <p:txBody>
          <a:bodyPr wrap="square">
            <a:spAutoFit/>
          </a:bodyPr>
          <a:lstStyle/>
          <a:p>
            <a:pPr algn="ctr"/>
            <a:r>
              <a:rPr sz="1000" b="0" i="1">
                <a:solidFill>
                  <a:srgbClr val="A09E98"/>
                </a:solidFill>
                <a:latin typeface="Calibri"/>
              </a:rPr>
              <a:t>el más alto de Argentina</a:t>
            </a:r>
          </a:p>
        </p:txBody>
      </p:sp>
      <p:sp>
        <p:nvSpPr>
          <p:cNvPr id="21" name="TextBox 20"/>
          <p:cNvSpPr txBox="1"/>
          <p:nvPr/>
        </p:nvSpPr>
        <p:spPr>
          <a:xfrm>
            <a:off x="365760" y="4251960"/>
            <a:ext cx="11338560" cy="914400"/>
          </a:xfrm>
          <a:prstGeom prst="rect">
            <a:avLst/>
          </a:prstGeom>
          <a:noFill/>
        </p:spPr>
        <p:txBody>
          <a:bodyPr wrap="square">
            <a:spAutoFit/>
          </a:bodyPr>
          <a:lstStyle/>
          <a:p>
            <a:pPr algn="l"/>
            <a:r>
              <a:rPr sz="1300" b="0" i="1">
                <a:solidFill>
                  <a:srgbClr val="6B6157"/>
                </a:solidFill>
                <a:latin typeface="Georgia"/>
              </a:rPr>
              <a:t>"La rentabilidad ya no se ancla en el AMBA. Migró hacia la energía, los minerales
y la exportación agropecuaria del interior." — El Diario 24, mayo 2026</a:t>
            </a:r>
          </a:p>
        </p:txBody>
      </p:sp>
      <p:sp>
        <p:nvSpPr>
          <p:cNvPr id="22" name="TextBox 21"/>
          <p:cNvSpPr txBox="1"/>
          <p:nvPr/>
        </p:nvSpPr>
        <p:spPr>
          <a:xfrm>
            <a:off x="365760" y="6400800"/>
            <a:ext cx="11430000" cy="347472"/>
          </a:xfrm>
          <a:prstGeom prst="rect">
            <a:avLst/>
          </a:prstGeom>
          <a:noFill/>
        </p:spPr>
        <p:txBody>
          <a:bodyPr wrap="square">
            <a:spAutoFit/>
          </a:bodyPr>
          <a:lstStyle/>
          <a:p>
            <a:pPr algn="l"/>
            <a:r>
              <a:rPr sz="900" b="0" i="1">
                <a:solidFill>
                  <a:srgbClr val="A09E98"/>
                </a:solidFill>
                <a:latin typeface="Calibri"/>
              </a:rPr>
              <a:t>Fuente: INDEC, ranking exportaciones por provincia 2025 · Infobae, Mapa económico de Argentina, mayo 2026 · Ministerio de Trabajo, nov.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40E1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828800" cy="1828800"/>
          </a:xfrm>
          <a:prstGeom prst="rect">
            <a:avLst/>
          </a:prstGeom>
          <a:noFill/>
        </p:spPr>
        <p:txBody>
          <a:bodyPr wrap="square">
            <a:spAutoFit/>
          </a:bodyPr>
          <a:lstStyle/>
          <a:p>
            <a:pPr algn="l"/>
            <a:r>
              <a:rPr sz="12000" b="0" i="0">
                <a:solidFill>
                  <a:srgbClr val="10B981"/>
                </a:solidFill>
                <a:latin typeface="Georgia"/>
              </a:rPr>
              <a:t>“</a:t>
            </a:r>
          </a:p>
        </p:txBody>
      </p:sp>
      <p:sp>
        <p:nvSpPr>
          <p:cNvPr id="4" name="TextBox 3"/>
          <p:cNvSpPr txBox="1"/>
          <p:nvPr/>
        </p:nvSpPr>
        <p:spPr>
          <a:xfrm>
            <a:off x="1097280" y="1005840"/>
            <a:ext cx="10058400" cy="3657600"/>
          </a:xfrm>
          <a:prstGeom prst="rect">
            <a:avLst/>
          </a:prstGeom>
          <a:noFill/>
        </p:spPr>
        <p:txBody>
          <a:bodyPr wrap="square">
            <a:spAutoFit/>
          </a:bodyPr>
          <a:lstStyle/>
          <a:p>
            <a:pPr algn="l"/>
            <a:r>
              <a:rPr b="0" sz="3000" i="0">
                <a:solidFill>
                  <a:srgbClr val="FFFFFF"/>
                </a:solidFill>
                <a:latin typeface="Georgia"/>
              </a:rPr>
              <a:t>Conviven distintas Argentinas
dentro del mismo proceso económico.
</a:t>
            </a:r>
          </a:p>
          <a:p>
            <a:pPr algn="l"/>
            <a:r>
              <a:rPr b="0" sz="1800" i="0">
                <a:solidFill>
                  <a:srgbClr val="7A9AB8"/>
                </a:solidFill>
                <a:latin typeface="Georgia"/>
              </a:rPr>
              <a:t>Mientras parte del interior logra sostener actividad
gracias a sectores exportadores y economías regionales
dinámicas, el AMBA concentra gran parte de la tensión.</a:t>
            </a:r>
          </a:p>
        </p:txBody>
      </p:sp>
      <p:sp>
        <p:nvSpPr>
          <p:cNvPr id="5" name="TextBox 4"/>
          <p:cNvSpPr txBox="1"/>
          <p:nvPr/>
        </p:nvSpPr>
        <p:spPr>
          <a:xfrm>
            <a:off x="1097280" y="4846320"/>
            <a:ext cx="10058400" cy="457200"/>
          </a:xfrm>
          <a:prstGeom prst="rect">
            <a:avLst/>
          </a:prstGeom>
          <a:noFill/>
        </p:spPr>
        <p:txBody>
          <a:bodyPr wrap="square">
            <a:spAutoFit/>
          </a:bodyPr>
          <a:lstStyle/>
          <a:p>
            <a:pPr algn="l"/>
            <a:r>
              <a:rPr sz="1200" b="0" i="1">
                <a:solidFill>
                  <a:srgbClr val="A09E98"/>
                </a:solidFill>
                <a:latin typeface="Calibri"/>
              </a:rPr>
              <a:t>— El Cronista, mayo 2026 · Análisis del Índice de Confianza del Consumidor</a:t>
            </a:r>
          </a:p>
        </p:txBody>
      </p:sp>
      <p:sp>
        <p:nvSpPr>
          <p:cNvPr id="6" name="Rectangle 5"/>
          <p:cNvSpPr/>
          <p:nvPr/>
        </p:nvSpPr>
        <p:spPr>
          <a:xfrm>
            <a:off x="365760" y="5669280"/>
            <a:ext cx="11338560" cy="18288"/>
          </a:xfrm>
          <a:prstGeom prst="rect">
            <a:avLst/>
          </a:prstGeom>
          <a:solidFill>
            <a:srgbClr val="1A4F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5806440"/>
            <a:ext cx="11338560" cy="731520"/>
          </a:xfrm>
          <a:prstGeom prst="rect">
            <a:avLst/>
          </a:prstGeom>
          <a:noFill/>
        </p:spPr>
        <p:txBody>
          <a:bodyPr wrap="square">
            <a:spAutoFit/>
          </a:bodyPr>
          <a:lstStyle/>
          <a:p>
            <a:pPr algn="l"/>
            <a:r>
              <a:rPr b="1" sz="1400" i="0">
                <a:solidFill>
                  <a:srgbClr val="FFFFFF"/>
                </a:solidFill>
                <a:latin typeface="Calibri"/>
              </a:rPr>
              <a:t>La inversión publicitaria debe seguir al consumo.  </a:t>
            </a:r>
          </a:p>
          <a:p>
            <a:pPr algn="l"/>
            <a:r>
              <a:rPr b="0" sz="1400" i="0">
                <a:solidFill>
                  <a:srgbClr val="A09E98"/>
                </a:solidFill>
                <a:latin typeface="Calibri"/>
              </a:rPr>
              <a:t>El interior no es un mercado secundario: es una oportunidad desatendida.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0E8"/>
        </a:solidFill>
        <a:effectLst/>
      </p:bgPr>
    </p:bg>
    <p:spTree>
      <p:nvGrpSpPr>
        <p:cNvPr id="1" name=""/>
        <p:cNvGrpSpPr/>
        <p:nvPr/>
      </p:nvGrpSpPr>
      <p:grpSpPr/>
      <p:sp>
        <p:nvSpPr>
          <p:cNvPr id="2" name="Rectangle 1"/>
          <p:cNvSpPr/>
          <p:nvPr/>
        </p:nvSpPr>
        <p:spPr>
          <a:xfrm>
            <a:off x="0" y="0"/>
            <a:ext cx="73152"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74320"/>
            <a:ext cx="10972800" cy="365760"/>
          </a:xfrm>
          <a:prstGeom prst="rect">
            <a:avLst/>
          </a:prstGeom>
          <a:noFill/>
        </p:spPr>
        <p:txBody>
          <a:bodyPr wrap="square">
            <a:spAutoFit/>
          </a:bodyPr>
          <a:lstStyle/>
          <a:p>
            <a:pPr algn="l"/>
            <a:r>
              <a:rPr sz="1100" b="1" i="0">
                <a:solidFill>
                  <a:srgbClr val="B45309"/>
                </a:solidFill>
                <a:latin typeface="Calibri"/>
              </a:rPr>
              <a:t>POR QUÉ EL MEDIO LOCAL LLEGA DIFERENTE</a:t>
            </a:r>
          </a:p>
        </p:txBody>
      </p:sp>
      <p:sp>
        <p:nvSpPr>
          <p:cNvPr id="4" name="TextBox 3"/>
          <p:cNvSpPr txBox="1"/>
          <p:nvPr/>
        </p:nvSpPr>
        <p:spPr>
          <a:xfrm>
            <a:off x="365760" y="685800"/>
            <a:ext cx="10972800" cy="1371600"/>
          </a:xfrm>
          <a:prstGeom prst="rect">
            <a:avLst/>
          </a:prstGeom>
          <a:noFill/>
        </p:spPr>
        <p:txBody>
          <a:bodyPr wrap="square">
            <a:spAutoFit/>
          </a:bodyPr>
          <a:lstStyle/>
          <a:p>
            <a:pPr algn="l"/>
            <a:r>
              <a:rPr b="0" sz="3000" i="1">
                <a:solidFill>
                  <a:srgbClr val="181410"/>
                </a:solidFill>
                <a:latin typeface="Georgia"/>
              </a:rPr>
              <a:t>Una radio de Buenos Aires hablándole a Tucumán
</a:t>
            </a:r>
          </a:p>
          <a:p>
            <a:pPr algn="l"/>
            <a:r>
              <a:rPr b="0" sz="3000" i="0">
                <a:solidFill>
                  <a:srgbClr val="181410"/>
                </a:solidFill>
                <a:latin typeface="Georgia"/>
              </a:rPr>
              <a:t>es un extraño hablando desde lejos.</a:t>
            </a:r>
          </a:p>
        </p:txBody>
      </p:sp>
      <p:sp>
        <p:nvSpPr>
          <p:cNvPr id="5" name="Rectangle 4"/>
          <p:cNvSpPr/>
          <p:nvPr/>
        </p:nvSpPr>
        <p:spPr>
          <a:xfrm>
            <a:off x="365760" y="2194560"/>
            <a:ext cx="3657600" cy="310896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2194560"/>
            <a:ext cx="3657600"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331720"/>
            <a:ext cx="3383280" cy="502920"/>
          </a:xfrm>
          <a:prstGeom prst="rect">
            <a:avLst/>
          </a:prstGeom>
          <a:noFill/>
        </p:spPr>
        <p:txBody>
          <a:bodyPr wrap="square">
            <a:spAutoFit/>
          </a:bodyPr>
          <a:lstStyle/>
          <a:p>
            <a:pPr algn="l"/>
            <a:r>
              <a:rPr sz="1800" b="1" i="0">
                <a:solidFill>
                  <a:srgbClr val="FFFFFF"/>
                </a:solidFill>
                <a:latin typeface="Georgia"/>
              </a:rPr>
              <a:t>Pertenencia</a:t>
            </a:r>
          </a:p>
        </p:txBody>
      </p:sp>
      <p:sp>
        <p:nvSpPr>
          <p:cNvPr id="8" name="TextBox 7"/>
          <p:cNvSpPr txBox="1"/>
          <p:nvPr/>
        </p:nvSpPr>
        <p:spPr>
          <a:xfrm>
            <a:off x="502920" y="2880360"/>
            <a:ext cx="3383280" cy="2286000"/>
          </a:xfrm>
          <a:prstGeom prst="rect">
            <a:avLst/>
          </a:prstGeom>
          <a:noFill/>
        </p:spPr>
        <p:txBody>
          <a:bodyPr wrap="square">
            <a:spAutoFit/>
          </a:bodyPr>
          <a:lstStyle/>
          <a:p>
            <a:pPr algn="l"/>
            <a:r>
              <a:rPr sz="1200" b="0" i="0">
                <a:solidFill>
                  <a:srgbClr val="9AA8B8"/>
                </a:solidFill>
                <a:latin typeface="Calibri"/>
              </a:rPr>
              <a:t>La radio local conoce los nombres de las calles, el partido del domingo, el temporal que cortó la ruta. Es parte del tejido cotidiano. El aviso no es publicidad externa: es parte del ecosistema de la ciudad.</a:t>
            </a:r>
          </a:p>
        </p:txBody>
      </p:sp>
      <p:sp>
        <p:nvSpPr>
          <p:cNvPr id="9" name="Rectangle 8"/>
          <p:cNvSpPr/>
          <p:nvPr/>
        </p:nvSpPr>
        <p:spPr>
          <a:xfrm>
            <a:off x="4297680" y="2194560"/>
            <a:ext cx="365760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2194560"/>
            <a:ext cx="3657600"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331720"/>
            <a:ext cx="3383280" cy="502920"/>
          </a:xfrm>
          <a:prstGeom prst="rect">
            <a:avLst/>
          </a:prstGeom>
          <a:noFill/>
        </p:spPr>
        <p:txBody>
          <a:bodyPr wrap="square">
            <a:spAutoFit/>
          </a:bodyPr>
          <a:lstStyle/>
          <a:p>
            <a:pPr algn="l"/>
            <a:r>
              <a:rPr sz="1800" b="1" i="0">
                <a:solidFill>
                  <a:srgbClr val="181410"/>
                </a:solidFill>
                <a:latin typeface="Georgia"/>
              </a:rPr>
              <a:t>Confianza</a:t>
            </a:r>
          </a:p>
        </p:txBody>
      </p:sp>
      <p:sp>
        <p:nvSpPr>
          <p:cNvPr id="12" name="TextBox 11"/>
          <p:cNvSpPr txBox="1"/>
          <p:nvPr/>
        </p:nvSpPr>
        <p:spPr>
          <a:xfrm>
            <a:off x="4434840" y="2880360"/>
            <a:ext cx="3383280" cy="2286000"/>
          </a:xfrm>
          <a:prstGeom prst="rect">
            <a:avLst/>
          </a:prstGeom>
          <a:noFill/>
        </p:spPr>
        <p:txBody>
          <a:bodyPr wrap="square">
            <a:spAutoFit/>
          </a:bodyPr>
          <a:lstStyle/>
          <a:p>
            <a:pPr algn="l"/>
            <a:r>
              <a:rPr sz="1200" b="0" i="0">
                <a:solidFill>
                  <a:srgbClr val="6B6157"/>
                </a:solidFill>
                <a:latin typeface="Calibri"/>
              </a:rPr>
              <a:t>El conductor de radio del interior es el líder de opinión local. Lleva años hablándole a la misma audiencia. Cuando menciona una marca, hay un halo de validación comunitaria imposible de replicar con un medio nacional.</a:t>
            </a:r>
          </a:p>
        </p:txBody>
      </p:sp>
      <p:sp>
        <p:nvSpPr>
          <p:cNvPr id="13" name="Rectangle 12"/>
          <p:cNvSpPr/>
          <p:nvPr/>
        </p:nvSpPr>
        <p:spPr>
          <a:xfrm>
            <a:off x="8229600" y="2194560"/>
            <a:ext cx="3657600" cy="3108960"/>
          </a:xfrm>
          <a:prstGeom prst="rect">
            <a:avLst/>
          </a:prstGeom>
          <a:solidFill>
            <a:srgbClr val="040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2194560"/>
            <a:ext cx="3657600"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2331720"/>
            <a:ext cx="3383280" cy="502920"/>
          </a:xfrm>
          <a:prstGeom prst="rect">
            <a:avLst/>
          </a:prstGeom>
          <a:noFill/>
        </p:spPr>
        <p:txBody>
          <a:bodyPr wrap="square">
            <a:spAutoFit/>
          </a:bodyPr>
          <a:lstStyle/>
          <a:p>
            <a:pPr algn="l"/>
            <a:r>
              <a:rPr sz="1800" b="1" i="0">
                <a:solidFill>
                  <a:srgbClr val="FFFFFF"/>
                </a:solidFill>
                <a:latin typeface="Georgia"/>
              </a:rPr>
              <a:t>Lealtad</a:t>
            </a:r>
          </a:p>
        </p:txBody>
      </p:sp>
      <p:sp>
        <p:nvSpPr>
          <p:cNvPr id="16" name="TextBox 15"/>
          <p:cNvSpPr txBox="1"/>
          <p:nvPr/>
        </p:nvSpPr>
        <p:spPr>
          <a:xfrm>
            <a:off x="8366760" y="2880360"/>
            <a:ext cx="3383280" cy="2286000"/>
          </a:xfrm>
          <a:prstGeom prst="rect">
            <a:avLst/>
          </a:prstGeom>
          <a:noFill/>
        </p:spPr>
        <p:txBody>
          <a:bodyPr wrap="square">
            <a:spAutoFit/>
          </a:bodyPr>
          <a:lstStyle/>
          <a:p>
            <a:pPr algn="l"/>
            <a:r>
              <a:rPr sz="1200" b="0" i="0">
                <a:solidFill>
                  <a:srgbClr val="9AA8B8"/>
                </a:solidFill>
                <a:latin typeface="Calibri"/>
              </a:rPr>
              <a:t>El 40% de los argentinos prefiere escuchar noticias locales. Los oyentes del interior eligen su radio todos los días, a la misma hora. Es audiencia cautiva con identidad: saben que esa radio es suya.</a:t>
            </a:r>
          </a:p>
        </p:txBody>
      </p:sp>
      <p:sp>
        <p:nvSpPr>
          <p:cNvPr id="17" name="TextBox 16"/>
          <p:cNvSpPr txBox="1"/>
          <p:nvPr/>
        </p:nvSpPr>
        <p:spPr>
          <a:xfrm>
            <a:off x="365760" y="6400800"/>
            <a:ext cx="11430000" cy="347472"/>
          </a:xfrm>
          <a:prstGeom prst="rect">
            <a:avLst/>
          </a:prstGeom>
          <a:noFill/>
        </p:spPr>
        <p:txBody>
          <a:bodyPr wrap="square">
            <a:spAutoFit/>
          </a:bodyPr>
          <a:lstStyle/>
          <a:p>
            <a:pPr algn="l"/>
            <a:r>
              <a:rPr sz="900" b="0" i="1">
                <a:solidFill>
                  <a:srgbClr val="A09E98"/>
                </a:solidFill>
                <a:latin typeface="Calibri"/>
              </a:rPr>
              <a:t>Fuente: TGI 2023 Personas, Kantar · Universidad de Palermo, estudios de audiencia de medios locales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0E8"/>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D4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74320"/>
            <a:ext cx="10972800" cy="365760"/>
          </a:xfrm>
          <a:prstGeom prst="rect">
            <a:avLst/>
          </a:prstGeom>
          <a:noFill/>
        </p:spPr>
        <p:txBody>
          <a:bodyPr wrap="square">
            <a:spAutoFit/>
          </a:bodyPr>
          <a:lstStyle/>
          <a:p>
            <a:pPr algn="l"/>
            <a:r>
              <a:rPr sz="1100" b="1" i="0">
                <a:solidFill>
                  <a:srgbClr val="0D4FA8"/>
                </a:solidFill>
                <a:latin typeface="Calibri"/>
              </a:rPr>
              <a:t>LA RADIO EN ARGENTINA: LOS DATOS</a:t>
            </a:r>
          </a:p>
        </p:txBody>
      </p:sp>
      <p:sp>
        <p:nvSpPr>
          <p:cNvPr id="4" name="TextBox 3"/>
          <p:cNvSpPr txBox="1"/>
          <p:nvPr/>
        </p:nvSpPr>
        <p:spPr>
          <a:xfrm>
            <a:off x="365760" y="685800"/>
            <a:ext cx="10972800" cy="914400"/>
          </a:xfrm>
          <a:prstGeom prst="rect">
            <a:avLst/>
          </a:prstGeom>
          <a:noFill/>
        </p:spPr>
        <p:txBody>
          <a:bodyPr wrap="square">
            <a:spAutoFit/>
          </a:bodyPr>
          <a:lstStyle/>
          <a:p>
            <a:pPr algn="l"/>
            <a:r>
              <a:rPr b="1" sz="3200" i="0">
                <a:solidFill>
                  <a:srgbClr val="181410"/>
                </a:solidFill>
                <a:latin typeface="Georgia"/>
              </a:rPr>
              <a:t>Córdoba escucha más radio </a:t>
            </a:r>
          </a:p>
          <a:p>
            <a:pPr algn="l"/>
            <a:r>
              <a:rPr b="0" sz="3200" i="0">
                <a:solidFill>
                  <a:srgbClr val="181410"/>
                </a:solidFill>
                <a:latin typeface="Georgia"/>
              </a:rPr>
              <a:t>que Buenos Aires.</a:t>
            </a:r>
          </a:p>
        </p:txBody>
      </p:sp>
      <p:sp>
        <p:nvSpPr>
          <p:cNvPr id="5" name="Rectangle 4"/>
          <p:cNvSpPr/>
          <p:nvPr/>
        </p:nvSpPr>
        <p:spPr>
          <a:xfrm>
            <a:off x="365760" y="1920240"/>
            <a:ext cx="2514600" cy="50292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65960"/>
            <a:ext cx="2377439" cy="411480"/>
          </a:xfrm>
          <a:prstGeom prst="rect">
            <a:avLst/>
          </a:prstGeom>
          <a:noFill/>
        </p:spPr>
        <p:txBody>
          <a:bodyPr wrap="square">
            <a:spAutoFit/>
          </a:bodyPr>
          <a:lstStyle/>
          <a:p>
            <a:pPr algn="l"/>
            <a:r>
              <a:rPr sz="1300" b="1" i="0">
                <a:solidFill>
                  <a:srgbClr val="FFFFFF"/>
                </a:solidFill>
                <a:latin typeface="Calibri"/>
              </a:rPr>
              <a:t/>
            </a:r>
          </a:p>
        </p:txBody>
      </p:sp>
      <p:sp>
        <p:nvSpPr>
          <p:cNvPr id="7" name="Rectangle 6"/>
          <p:cNvSpPr/>
          <p:nvPr/>
        </p:nvSpPr>
        <p:spPr>
          <a:xfrm>
            <a:off x="3017520" y="1920240"/>
            <a:ext cx="2514600" cy="502920"/>
          </a:xfrm>
          <a:prstGeom prst="rect">
            <a:avLst/>
          </a:prstGeom>
          <a:solidFill>
            <a:srgbClr val="0D4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08960" y="1965960"/>
            <a:ext cx="2377439" cy="411480"/>
          </a:xfrm>
          <a:prstGeom prst="rect">
            <a:avLst/>
          </a:prstGeom>
          <a:noFill/>
        </p:spPr>
        <p:txBody>
          <a:bodyPr wrap="square">
            <a:spAutoFit/>
          </a:bodyPr>
          <a:lstStyle/>
          <a:p>
            <a:pPr algn="ctr"/>
            <a:r>
              <a:rPr sz="1300" b="1" i="0">
                <a:solidFill>
                  <a:srgbClr val="FFFFFF"/>
                </a:solidFill>
                <a:latin typeface="Calibri"/>
              </a:rPr>
              <a:t>Tiempo diario</a:t>
            </a:r>
          </a:p>
        </p:txBody>
      </p:sp>
      <p:sp>
        <p:nvSpPr>
          <p:cNvPr id="9" name="Rectangle 8"/>
          <p:cNvSpPr/>
          <p:nvPr/>
        </p:nvSpPr>
        <p:spPr>
          <a:xfrm>
            <a:off x="5669280" y="1920240"/>
            <a:ext cx="2514600" cy="502920"/>
          </a:xfrm>
          <a:prstGeom prst="rect">
            <a:avLst/>
          </a:prstGeom>
          <a:solidFill>
            <a:srgbClr val="0D4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0" y="1965960"/>
            <a:ext cx="2377439" cy="411480"/>
          </a:xfrm>
          <a:prstGeom prst="rect">
            <a:avLst/>
          </a:prstGeom>
          <a:noFill/>
        </p:spPr>
        <p:txBody>
          <a:bodyPr wrap="square">
            <a:spAutoFit/>
          </a:bodyPr>
          <a:lstStyle/>
          <a:p>
            <a:pPr algn="ctr"/>
            <a:r>
              <a:rPr sz="1300" b="1" i="0">
                <a:solidFill>
                  <a:srgbClr val="FFFFFF"/>
                </a:solidFill>
                <a:latin typeface="Calibri"/>
              </a:rPr>
              <a:t>Reach semanal</a:t>
            </a:r>
          </a:p>
        </p:txBody>
      </p:sp>
      <p:sp>
        <p:nvSpPr>
          <p:cNvPr id="11" name="Rectangle 10"/>
          <p:cNvSpPr/>
          <p:nvPr/>
        </p:nvSpPr>
        <p:spPr>
          <a:xfrm>
            <a:off x="8321040" y="1920240"/>
            <a:ext cx="2514600" cy="502920"/>
          </a:xfrm>
          <a:prstGeom prst="rect">
            <a:avLst/>
          </a:prstGeom>
          <a:solidFill>
            <a:srgbClr val="0D4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965960"/>
            <a:ext cx="2377439" cy="411480"/>
          </a:xfrm>
          <a:prstGeom prst="rect">
            <a:avLst/>
          </a:prstGeom>
          <a:noFill/>
        </p:spPr>
        <p:txBody>
          <a:bodyPr wrap="square">
            <a:spAutoFit/>
          </a:bodyPr>
          <a:lstStyle/>
          <a:p>
            <a:pPr algn="ctr"/>
            <a:r>
              <a:rPr sz="1300" b="1" i="0">
                <a:solidFill>
                  <a:srgbClr val="FFFFFF"/>
                </a:solidFill>
                <a:latin typeface="Calibri"/>
              </a:rPr>
              <a:t>Reach diario</a:t>
            </a:r>
          </a:p>
        </p:txBody>
      </p:sp>
      <p:sp>
        <p:nvSpPr>
          <p:cNvPr id="13" name="Rectangle 12"/>
          <p:cNvSpPr/>
          <p:nvPr/>
        </p:nvSpPr>
        <p:spPr>
          <a:xfrm>
            <a:off x="365760" y="2468880"/>
            <a:ext cx="2514600" cy="612647"/>
          </a:xfrm>
          <a:prstGeom prst="rect">
            <a:avLst/>
          </a:prstGeom>
          <a:solidFill>
            <a:srgbClr val="040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487168"/>
            <a:ext cx="2377439" cy="566928"/>
          </a:xfrm>
          <a:prstGeom prst="rect">
            <a:avLst/>
          </a:prstGeom>
          <a:noFill/>
        </p:spPr>
        <p:txBody>
          <a:bodyPr wrap="square">
            <a:spAutoFit/>
          </a:bodyPr>
          <a:lstStyle/>
          <a:p>
            <a:pPr algn="l"/>
            <a:r>
              <a:rPr sz="1800" b="0" i="0">
                <a:solidFill>
                  <a:srgbClr val="FFFFFF"/>
                </a:solidFill>
                <a:latin typeface="Calibri"/>
              </a:rPr>
              <a:t>Córdoba</a:t>
            </a:r>
          </a:p>
        </p:txBody>
      </p:sp>
      <p:sp>
        <p:nvSpPr>
          <p:cNvPr id="15" name="Rectangle 14"/>
          <p:cNvSpPr/>
          <p:nvPr/>
        </p:nvSpPr>
        <p:spPr>
          <a:xfrm>
            <a:off x="3017520" y="2468880"/>
            <a:ext cx="2514600" cy="612647"/>
          </a:xfrm>
          <a:prstGeom prst="rect">
            <a:avLst/>
          </a:prstGeom>
          <a:solidFill>
            <a:srgbClr val="040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8960" y="2487168"/>
            <a:ext cx="2377439" cy="566928"/>
          </a:xfrm>
          <a:prstGeom prst="rect">
            <a:avLst/>
          </a:prstGeom>
          <a:noFill/>
        </p:spPr>
        <p:txBody>
          <a:bodyPr wrap="square">
            <a:spAutoFit/>
          </a:bodyPr>
          <a:lstStyle/>
          <a:p>
            <a:pPr algn="ctr"/>
            <a:r>
              <a:rPr sz="2800" b="1" i="0">
                <a:solidFill>
                  <a:srgbClr val="10B981"/>
                </a:solidFill>
                <a:latin typeface="Georgia"/>
              </a:rPr>
              <a:t>6 hs 16 min</a:t>
            </a:r>
          </a:p>
        </p:txBody>
      </p:sp>
      <p:sp>
        <p:nvSpPr>
          <p:cNvPr id="17" name="Rectangle 16"/>
          <p:cNvSpPr/>
          <p:nvPr/>
        </p:nvSpPr>
        <p:spPr>
          <a:xfrm>
            <a:off x="5669280" y="2468880"/>
            <a:ext cx="2514600" cy="612647"/>
          </a:xfrm>
          <a:prstGeom prst="rect">
            <a:avLst/>
          </a:prstGeom>
          <a:solidFill>
            <a:srgbClr val="040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720" y="2487168"/>
            <a:ext cx="2377439" cy="566928"/>
          </a:xfrm>
          <a:prstGeom prst="rect">
            <a:avLst/>
          </a:prstGeom>
          <a:noFill/>
        </p:spPr>
        <p:txBody>
          <a:bodyPr wrap="square">
            <a:spAutoFit/>
          </a:bodyPr>
          <a:lstStyle/>
          <a:p>
            <a:pPr algn="ctr"/>
            <a:r>
              <a:rPr sz="2800" b="1" i="0">
                <a:solidFill>
                  <a:srgbClr val="10B981"/>
                </a:solidFill>
                <a:latin typeface="Georgia"/>
              </a:rPr>
              <a:t>99%</a:t>
            </a:r>
          </a:p>
        </p:txBody>
      </p:sp>
      <p:sp>
        <p:nvSpPr>
          <p:cNvPr id="19" name="Rectangle 18"/>
          <p:cNvSpPr/>
          <p:nvPr/>
        </p:nvSpPr>
        <p:spPr>
          <a:xfrm>
            <a:off x="8321040" y="2468880"/>
            <a:ext cx="2514600" cy="612647"/>
          </a:xfrm>
          <a:prstGeom prst="rect">
            <a:avLst/>
          </a:prstGeom>
          <a:solidFill>
            <a:srgbClr val="040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2487168"/>
            <a:ext cx="2377439" cy="566928"/>
          </a:xfrm>
          <a:prstGeom prst="rect">
            <a:avLst/>
          </a:prstGeom>
          <a:noFill/>
        </p:spPr>
        <p:txBody>
          <a:bodyPr wrap="square">
            <a:spAutoFit/>
          </a:bodyPr>
          <a:lstStyle/>
          <a:p>
            <a:pPr algn="ctr"/>
            <a:r>
              <a:rPr sz="2800" b="1" i="0">
                <a:solidFill>
                  <a:srgbClr val="10B981"/>
                </a:solidFill>
                <a:latin typeface="Georgia"/>
              </a:rPr>
              <a:t>71%</a:t>
            </a:r>
          </a:p>
        </p:txBody>
      </p:sp>
      <p:sp>
        <p:nvSpPr>
          <p:cNvPr id="21" name="Rectangle 20"/>
          <p:cNvSpPr/>
          <p:nvPr/>
        </p:nvSpPr>
        <p:spPr>
          <a:xfrm>
            <a:off x="365760" y="3127248"/>
            <a:ext cx="2514600" cy="612647"/>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145536"/>
            <a:ext cx="2377439" cy="566928"/>
          </a:xfrm>
          <a:prstGeom prst="rect">
            <a:avLst/>
          </a:prstGeom>
          <a:noFill/>
        </p:spPr>
        <p:txBody>
          <a:bodyPr wrap="square">
            <a:spAutoFit/>
          </a:bodyPr>
          <a:lstStyle/>
          <a:p>
            <a:pPr algn="l"/>
            <a:r>
              <a:rPr sz="1800" b="0" i="0">
                <a:solidFill>
                  <a:srgbClr val="FFFFFF"/>
                </a:solidFill>
                <a:latin typeface="Calibri"/>
              </a:rPr>
              <a:t>Buenos Aires</a:t>
            </a:r>
          </a:p>
        </p:txBody>
      </p:sp>
      <p:sp>
        <p:nvSpPr>
          <p:cNvPr id="23" name="Rectangle 22"/>
          <p:cNvSpPr/>
          <p:nvPr/>
        </p:nvSpPr>
        <p:spPr>
          <a:xfrm>
            <a:off x="3017520" y="3127248"/>
            <a:ext cx="2514600" cy="612647"/>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0" y="3145536"/>
            <a:ext cx="2377439" cy="566928"/>
          </a:xfrm>
          <a:prstGeom prst="rect">
            <a:avLst/>
          </a:prstGeom>
          <a:noFill/>
        </p:spPr>
        <p:txBody>
          <a:bodyPr wrap="square">
            <a:spAutoFit/>
          </a:bodyPr>
          <a:lstStyle/>
          <a:p>
            <a:pPr algn="ctr"/>
            <a:r>
              <a:rPr sz="2800" b="1" i="0">
                <a:solidFill>
                  <a:srgbClr val="A09E98"/>
                </a:solidFill>
                <a:latin typeface="Georgia"/>
              </a:rPr>
              <a:t>5 hs 14 min</a:t>
            </a:r>
          </a:p>
        </p:txBody>
      </p:sp>
      <p:sp>
        <p:nvSpPr>
          <p:cNvPr id="25" name="Rectangle 24"/>
          <p:cNvSpPr/>
          <p:nvPr/>
        </p:nvSpPr>
        <p:spPr>
          <a:xfrm>
            <a:off x="5669280" y="3127248"/>
            <a:ext cx="2514600" cy="612647"/>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60720" y="3145536"/>
            <a:ext cx="2377439" cy="566928"/>
          </a:xfrm>
          <a:prstGeom prst="rect">
            <a:avLst/>
          </a:prstGeom>
          <a:noFill/>
        </p:spPr>
        <p:txBody>
          <a:bodyPr wrap="square">
            <a:spAutoFit/>
          </a:bodyPr>
          <a:lstStyle/>
          <a:p>
            <a:pPr algn="ctr"/>
            <a:r>
              <a:rPr sz="2800" b="1" i="0">
                <a:solidFill>
                  <a:srgbClr val="A09E98"/>
                </a:solidFill>
                <a:latin typeface="Georgia"/>
              </a:rPr>
              <a:t>98%</a:t>
            </a:r>
          </a:p>
        </p:txBody>
      </p:sp>
      <p:sp>
        <p:nvSpPr>
          <p:cNvPr id="27" name="Rectangle 26"/>
          <p:cNvSpPr/>
          <p:nvPr/>
        </p:nvSpPr>
        <p:spPr>
          <a:xfrm>
            <a:off x="8321040" y="3127248"/>
            <a:ext cx="2514600" cy="612647"/>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0" y="3145536"/>
            <a:ext cx="2377439" cy="566928"/>
          </a:xfrm>
          <a:prstGeom prst="rect">
            <a:avLst/>
          </a:prstGeom>
          <a:noFill/>
        </p:spPr>
        <p:txBody>
          <a:bodyPr wrap="square">
            <a:spAutoFit/>
          </a:bodyPr>
          <a:lstStyle/>
          <a:p>
            <a:pPr algn="ctr"/>
            <a:r>
              <a:rPr sz="2800" b="1" i="0">
                <a:solidFill>
                  <a:srgbClr val="A09E98"/>
                </a:solidFill>
                <a:latin typeface="Georgia"/>
              </a:rPr>
              <a:t>63%</a:t>
            </a:r>
          </a:p>
        </p:txBody>
      </p:sp>
      <p:sp>
        <p:nvSpPr>
          <p:cNvPr id="29" name="TextBox 28"/>
          <p:cNvSpPr txBox="1"/>
          <p:nvPr/>
        </p:nvSpPr>
        <p:spPr>
          <a:xfrm>
            <a:off x="365760" y="4206240"/>
            <a:ext cx="7315200" cy="731520"/>
          </a:xfrm>
          <a:prstGeom prst="rect">
            <a:avLst/>
          </a:prstGeom>
          <a:noFill/>
        </p:spPr>
        <p:txBody>
          <a:bodyPr wrap="square">
            <a:spAutoFit/>
          </a:bodyPr>
          <a:lstStyle/>
          <a:p>
            <a:pPr algn="l"/>
            <a:r>
              <a:rPr b="1" sz="3600" i="0">
                <a:solidFill>
                  <a:srgbClr val="0D4FA8"/>
                </a:solidFill>
                <a:latin typeface="Georgia"/>
              </a:rPr>
              <a:t>47%</a:t>
            </a:r>
          </a:p>
          <a:p>
            <a:pPr algn="l"/>
            <a:r>
              <a:rPr b="0" sz="1800" i="0">
                <a:solidFill>
                  <a:srgbClr val="181410"/>
                </a:solidFill>
                <a:latin typeface="Georgia"/>
              </a:rPr>
              <a:t> de los argentinos escucha radio para informarse</a:t>
            </a:r>
          </a:p>
        </p:txBody>
      </p:sp>
      <p:sp>
        <p:nvSpPr>
          <p:cNvPr id="30" name="TextBox 29"/>
          <p:cNvSpPr txBox="1"/>
          <p:nvPr/>
        </p:nvSpPr>
        <p:spPr>
          <a:xfrm>
            <a:off x="365760" y="4937760"/>
            <a:ext cx="7315200" cy="731520"/>
          </a:xfrm>
          <a:prstGeom prst="rect">
            <a:avLst/>
          </a:prstGeom>
          <a:noFill/>
        </p:spPr>
        <p:txBody>
          <a:bodyPr wrap="square">
            <a:spAutoFit/>
          </a:bodyPr>
          <a:lstStyle/>
          <a:p>
            <a:pPr algn="l"/>
            <a:r>
              <a:rPr b="1" sz="3600" i="0">
                <a:solidFill>
                  <a:srgbClr val="047857"/>
                </a:solidFill>
                <a:latin typeface="Georgia"/>
              </a:rPr>
              <a:t>38%</a:t>
            </a:r>
          </a:p>
          <a:p>
            <a:pPr algn="l"/>
            <a:r>
              <a:rPr b="0" sz="1800" i="0">
                <a:solidFill>
                  <a:srgbClr val="181410"/>
                </a:solidFill>
                <a:latin typeface="Georgia"/>
              </a:rPr>
              <a:t> escuchó radio online en el último mes</a:t>
            </a:r>
          </a:p>
        </p:txBody>
      </p:sp>
      <p:sp>
        <p:nvSpPr>
          <p:cNvPr id="31" name="TextBox 30"/>
          <p:cNvSpPr txBox="1"/>
          <p:nvPr/>
        </p:nvSpPr>
        <p:spPr>
          <a:xfrm>
            <a:off x="365760" y="6400800"/>
            <a:ext cx="11430000" cy="347472"/>
          </a:xfrm>
          <a:prstGeom prst="rect">
            <a:avLst/>
          </a:prstGeom>
          <a:noFill/>
        </p:spPr>
        <p:txBody>
          <a:bodyPr wrap="square">
            <a:spAutoFit/>
          </a:bodyPr>
          <a:lstStyle/>
          <a:p>
            <a:pPr algn="l"/>
            <a:r>
              <a:rPr sz="900" b="0" i="1">
                <a:solidFill>
                  <a:srgbClr val="A09E98"/>
                </a:solidFill>
                <a:latin typeface="Calibri"/>
              </a:rPr>
              <a:t>Fuente: Kantar IBOPE Media, consolidado enero–diciembre 2023 · TGI 2023 Personas, Kantar · Inside Audio 2024, TotalMedios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40E1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74320"/>
            <a:ext cx="10972800" cy="365760"/>
          </a:xfrm>
          <a:prstGeom prst="rect">
            <a:avLst/>
          </a:prstGeom>
          <a:noFill/>
        </p:spPr>
        <p:txBody>
          <a:bodyPr wrap="square">
            <a:spAutoFit/>
          </a:bodyPr>
          <a:lstStyle/>
          <a:p>
            <a:pPr algn="l"/>
            <a:r>
              <a:rPr sz="1100" b="1" i="0">
                <a:solidFill>
                  <a:srgbClr val="047857"/>
                </a:solidFill>
                <a:latin typeface="Calibri"/>
              </a:rPr>
              <a:t>EFECTIVIDAD PUBLICITARIA · RADIO</a:t>
            </a:r>
          </a:p>
        </p:txBody>
      </p:sp>
      <p:sp>
        <p:nvSpPr>
          <p:cNvPr id="4" name="TextBox 3"/>
          <p:cNvSpPr txBox="1"/>
          <p:nvPr/>
        </p:nvSpPr>
        <p:spPr>
          <a:xfrm>
            <a:off x="365760" y="685800"/>
            <a:ext cx="10972800" cy="914400"/>
          </a:xfrm>
          <a:prstGeom prst="rect">
            <a:avLst/>
          </a:prstGeom>
          <a:noFill/>
        </p:spPr>
        <p:txBody>
          <a:bodyPr wrap="square">
            <a:spAutoFit/>
          </a:bodyPr>
          <a:lstStyle/>
          <a:p>
            <a:pPr algn="l"/>
            <a:r>
              <a:rPr b="0" sz="3400" i="0">
                <a:solidFill>
                  <a:srgbClr val="FFFFFF"/>
                </a:solidFill>
                <a:latin typeface="Georgia"/>
              </a:rPr>
              <a:t>La radio: el medio con mayor ROI </a:t>
            </a:r>
          </a:p>
          <a:p>
            <a:pPr algn="l"/>
            <a:r>
              <a:rPr b="0" sz="3400" i="1">
                <a:solidFill>
                  <a:srgbClr val="10B981"/>
                </a:solidFill>
                <a:latin typeface="Georgia"/>
              </a:rPr>
              <a:t>comprobado.</a:t>
            </a:r>
          </a:p>
        </p:txBody>
      </p:sp>
      <p:sp>
        <p:nvSpPr>
          <p:cNvPr id="5" name="Rectangle 4"/>
          <p:cNvSpPr/>
          <p:nvPr/>
        </p:nvSpPr>
        <p:spPr>
          <a:xfrm>
            <a:off x="365760" y="1828800"/>
            <a:ext cx="5029200" cy="256032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828800"/>
            <a:ext cx="5029200" cy="73152"/>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20240"/>
            <a:ext cx="3200400" cy="1463040"/>
          </a:xfrm>
          <a:prstGeom prst="rect">
            <a:avLst/>
          </a:prstGeom>
          <a:noFill/>
        </p:spPr>
        <p:txBody>
          <a:bodyPr wrap="square">
            <a:spAutoFit/>
          </a:bodyPr>
          <a:lstStyle/>
          <a:p>
            <a:pPr algn="l"/>
            <a:r>
              <a:rPr sz="8800" b="1" i="0">
                <a:solidFill>
                  <a:srgbClr val="10B981"/>
                </a:solidFill>
                <a:latin typeface="Georgia"/>
              </a:rPr>
              <a:t>$7</a:t>
            </a:r>
          </a:p>
        </p:txBody>
      </p:sp>
      <p:sp>
        <p:nvSpPr>
          <p:cNvPr id="8" name="TextBox 7"/>
          <p:cNvSpPr txBox="1"/>
          <p:nvPr/>
        </p:nvSpPr>
        <p:spPr>
          <a:xfrm>
            <a:off x="3657600" y="2286000"/>
            <a:ext cx="1554480" cy="1188720"/>
          </a:xfrm>
          <a:prstGeom prst="rect">
            <a:avLst/>
          </a:prstGeom>
          <a:noFill/>
        </p:spPr>
        <p:txBody>
          <a:bodyPr wrap="square">
            <a:spAutoFit/>
          </a:bodyPr>
          <a:lstStyle/>
          <a:p>
            <a:pPr algn="l"/>
            <a:r>
              <a:rPr sz="1400" b="0" i="0">
                <a:solidFill>
                  <a:srgbClr val="FFFFFF"/>
                </a:solidFill>
                <a:latin typeface="Calibri"/>
              </a:rPr>
              <a:t>de retorno por cada
$1 invertido en radio</a:t>
            </a:r>
          </a:p>
        </p:txBody>
      </p:sp>
      <p:sp>
        <p:nvSpPr>
          <p:cNvPr id="9" name="TextBox 8"/>
          <p:cNvSpPr txBox="1"/>
          <p:nvPr/>
        </p:nvSpPr>
        <p:spPr>
          <a:xfrm>
            <a:off x="457200" y="3383280"/>
            <a:ext cx="4754880" cy="822960"/>
          </a:xfrm>
          <a:prstGeom prst="rect">
            <a:avLst/>
          </a:prstGeom>
          <a:noFill/>
        </p:spPr>
        <p:txBody>
          <a:bodyPr wrap="square">
            <a:spAutoFit/>
          </a:bodyPr>
          <a:lstStyle/>
          <a:p>
            <a:pPr algn="l"/>
            <a:r>
              <a:rPr sz="1000" b="0" i="1">
                <a:solidFill>
                  <a:srgbClr val="A09E98"/>
                </a:solidFill>
                <a:latin typeface="Calibri"/>
              </a:rPr>
              <a:t>Nielsen Catalina Solutions + Holmes and Cook
(estudios independientes, mismo resultado)</a:t>
            </a:r>
          </a:p>
        </p:txBody>
      </p:sp>
      <p:sp>
        <p:nvSpPr>
          <p:cNvPr id="10" name="Rectangle 9"/>
          <p:cNvSpPr/>
          <p:nvPr/>
        </p:nvSpPr>
        <p:spPr>
          <a:xfrm>
            <a:off x="5760720" y="1783080"/>
            <a:ext cx="6035040" cy="114300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80" y="1874519"/>
            <a:ext cx="5669280" cy="411480"/>
          </a:xfrm>
          <a:prstGeom prst="rect">
            <a:avLst/>
          </a:prstGeom>
          <a:noFill/>
        </p:spPr>
        <p:txBody>
          <a:bodyPr wrap="square">
            <a:spAutoFit/>
          </a:bodyPr>
          <a:lstStyle/>
          <a:p>
            <a:pPr algn="l"/>
            <a:r>
              <a:rPr sz="1400" b="1" i="0">
                <a:solidFill>
                  <a:srgbClr val="10B981"/>
                </a:solidFill>
                <a:latin typeface="Calibri"/>
              </a:rPr>
              <a:t>ROI medio comprobado: 6–7x</a:t>
            </a:r>
          </a:p>
        </p:txBody>
      </p:sp>
      <p:sp>
        <p:nvSpPr>
          <p:cNvPr id="12" name="TextBox 11"/>
          <p:cNvSpPr txBox="1"/>
          <p:nvPr/>
        </p:nvSpPr>
        <p:spPr>
          <a:xfrm>
            <a:off x="5897880" y="2258568"/>
            <a:ext cx="5669280" cy="594360"/>
          </a:xfrm>
          <a:prstGeom prst="rect">
            <a:avLst/>
          </a:prstGeom>
          <a:noFill/>
        </p:spPr>
        <p:txBody>
          <a:bodyPr wrap="square">
            <a:spAutoFit/>
          </a:bodyPr>
          <a:lstStyle/>
          <a:p>
            <a:pPr algn="l"/>
            <a:r>
              <a:rPr sz="1100" b="0" i="0">
                <a:solidFill>
                  <a:srgbClr val="8AA8C0"/>
                </a:solidFill>
                <a:latin typeface="Calibri"/>
              </a:rPr>
              <a:t>Dos firmas consultoras independientes sobre decenas de agencias globales.</a:t>
            </a:r>
          </a:p>
        </p:txBody>
      </p:sp>
      <p:sp>
        <p:nvSpPr>
          <p:cNvPr id="13" name="Rectangle 12"/>
          <p:cNvSpPr/>
          <p:nvPr/>
        </p:nvSpPr>
        <p:spPr>
          <a:xfrm>
            <a:off x="5760720" y="3017520"/>
            <a:ext cx="6035040" cy="114300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97880" y="3108960"/>
            <a:ext cx="5669280" cy="411480"/>
          </a:xfrm>
          <a:prstGeom prst="rect">
            <a:avLst/>
          </a:prstGeom>
          <a:noFill/>
        </p:spPr>
        <p:txBody>
          <a:bodyPr wrap="square">
            <a:spAutoFit/>
          </a:bodyPr>
          <a:lstStyle/>
          <a:p>
            <a:pPr algn="l"/>
            <a:r>
              <a:rPr sz="1400" b="1" i="0">
                <a:solidFill>
                  <a:srgbClr val="10B981"/>
                </a:solidFill>
                <a:latin typeface="Calibri"/>
              </a:rPr>
              <a:t>Caso minorista récord: 23x ROI</a:t>
            </a:r>
          </a:p>
        </p:txBody>
      </p:sp>
      <p:sp>
        <p:nvSpPr>
          <p:cNvPr id="15" name="TextBox 14"/>
          <p:cNvSpPr txBox="1"/>
          <p:nvPr/>
        </p:nvSpPr>
        <p:spPr>
          <a:xfrm>
            <a:off x="5897880" y="3493008"/>
            <a:ext cx="5669280" cy="594360"/>
          </a:xfrm>
          <a:prstGeom prst="rect">
            <a:avLst/>
          </a:prstGeom>
          <a:noFill/>
        </p:spPr>
        <p:txBody>
          <a:bodyPr wrap="square">
            <a:spAutoFit/>
          </a:bodyPr>
          <a:lstStyle/>
          <a:p>
            <a:pPr algn="l"/>
            <a:r>
              <a:rPr sz="1100" b="0" i="0">
                <a:solidFill>
                  <a:srgbClr val="8AA8C0"/>
                </a:solidFill>
                <a:latin typeface="Calibri"/>
              </a:rPr>
              <a:t>Nielsen Catalina Solutions identificó un caso específico de $23 de retorno por cada $1 invertido.</a:t>
            </a:r>
          </a:p>
        </p:txBody>
      </p:sp>
      <p:sp>
        <p:nvSpPr>
          <p:cNvPr id="16" name="Rectangle 15"/>
          <p:cNvSpPr/>
          <p:nvPr/>
        </p:nvSpPr>
        <p:spPr>
          <a:xfrm>
            <a:off x="5760720" y="4251960"/>
            <a:ext cx="6035040" cy="114300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97880" y="4343400"/>
            <a:ext cx="5669280" cy="411480"/>
          </a:xfrm>
          <a:prstGeom prst="rect">
            <a:avLst/>
          </a:prstGeom>
          <a:noFill/>
        </p:spPr>
        <p:txBody>
          <a:bodyPr wrap="square">
            <a:spAutoFit/>
          </a:bodyPr>
          <a:lstStyle/>
          <a:p>
            <a:pPr algn="l"/>
            <a:r>
              <a:rPr sz="1400" b="1" i="0">
                <a:solidFill>
                  <a:srgbClr val="10B981"/>
                </a:solidFill>
                <a:latin typeface="Calibri"/>
              </a:rPr>
              <a:t>Primer nivel en marketing mix</a:t>
            </a:r>
          </a:p>
        </p:txBody>
      </p:sp>
      <p:sp>
        <p:nvSpPr>
          <p:cNvPr id="18" name="TextBox 17"/>
          <p:cNvSpPr txBox="1"/>
          <p:nvPr/>
        </p:nvSpPr>
        <p:spPr>
          <a:xfrm>
            <a:off x="5897880" y="4727448"/>
            <a:ext cx="5669280" cy="594360"/>
          </a:xfrm>
          <a:prstGeom prst="rect">
            <a:avLst/>
          </a:prstGeom>
          <a:noFill/>
        </p:spPr>
        <p:txBody>
          <a:bodyPr wrap="square">
            <a:spAutoFit/>
          </a:bodyPr>
          <a:lstStyle/>
          <a:p>
            <a:pPr algn="l"/>
            <a:r>
              <a:rPr sz="1100" b="0" i="0">
                <a:solidFill>
                  <a:srgbClr val="8AA8C0"/>
                </a:solidFill>
                <a:latin typeface="Calibri"/>
              </a:rPr>
              <a:t>"Cuando se realizan suficientes impresiones, la radio aparece como medio de primer nivel para el ROI." Nielsen MMM, octubre 2024.</a:t>
            </a:r>
          </a:p>
        </p:txBody>
      </p:sp>
      <p:sp>
        <p:nvSpPr>
          <p:cNvPr id="19" name="Rectangle 18"/>
          <p:cNvSpPr/>
          <p:nvPr/>
        </p:nvSpPr>
        <p:spPr>
          <a:xfrm>
            <a:off x="5760720" y="5486400"/>
            <a:ext cx="6035040" cy="114300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97880" y="5577840"/>
            <a:ext cx="5669280" cy="411480"/>
          </a:xfrm>
          <a:prstGeom prst="rect">
            <a:avLst/>
          </a:prstGeom>
          <a:noFill/>
        </p:spPr>
        <p:txBody>
          <a:bodyPr wrap="square">
            <a:spAutoFit/>
          </a:bodyPr>
          <a:lstStyle/>
          <a:p>
            <a:pPr algn="l"/>
            <a:r>
              <a:rPr sz="1400" b="1" i="0">
                <a:solidFill>
                  <a:srgbClr val="10B981"/>
                </a:solidFill>
                <a:latin typeface="Calibri"/>
              </a:rPr>
              <a:t>Mayor eficiencia que digital</a:t>
            </a:r>
          </a:p>
        </p:txBody>
      </p:sp>
      <p:sp>
        <p:nvSpPr>
          <p:cNvPr id="21" name="TextBox 20"/>
          <p:cNvSpPr txBox="1"/>
          <p:nvPr/>
        </p:nvSpPr>
        <p:spPr>
          <a:xfrm>
            <a:off x="5897880" y="5961888"/>
            <a:ext cx="5669280" cy="594360"/>
          </a:xfrm>
          <a:prstGeom prst="rect">
            <a:avLst/>
          </a:prstGeom>
          <a:noFill/>
        </p:spPr>
        <p:txBody>
          <a:bodyPr wrap="square">
            <a:spAutoFit/>
          </a:bodyPr>
          <a:lstStyle/>
          <a:p>
            <a:pPr algn="l"/>
            <a:r>
              <a:rPr sz="1100" b="0" i="0">
                <a:solidFill>
                  <a:srgbClr val="8AA8C0"/>
                </a:solidFill>
                <a:latin typeface="Calibri"/>
              </a:rPr>
              <a:t>Radio supera a canales digitales en eficiencia mediática para audiencias adultas 25–64. Nielsen/Audacy, 2025.</a:t>
            </a:r>
          </a:p>
        </p:txBody>
      </p:sp>
      <p:sp>
        <p:nvSpPr>
          <p:cNvPr id="22" name="TextBox 21"/>
          <p:cNvSpPr txBox="1"/>
          <p:nvPr/>
        </p:nvSpPr>
        <p:spPr>
          <a:xfrm>
            <a:off x="365760" y="6400800"/>
            <a:ext cx="11430000" cy="347472"/>
          </a:xfrm>
          <a:prstGeom prst="rect">
            <a:avLst/>
          </a:prstGeom>
          <a:noFill/>
        </p:spPr>
        <p:txBody>
          <a:bodyPr wrap="square">
            <a:spAutoFit/>
          </a:bodyPr>
          <a:lstStyle/>
          <a:p>
            <a:pPr algn="l"/>
            <a:r>
              <a:rPr sz="900" b="0" i="1">
                <a:solidFill>
                  <a:srgbClr val="A09E98"/>
                </a:solidFill>
                <a:latin typeface="Calibri"/>
              </a:rPr>
              <a:t>Fuente: Nielsen Catalina Solutions · Holmes and Cook · Nielsen MMM "Unlocking the potential of radio", oct. 2024 · Nielsen/Audacy, radioNOTAS, abr.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0E8"/>
        </a:solidFill>
        <a:effectLst/>
      </p:bgPr>
    </p:bg>
    <p:spTree>
      <p:nvGrpSpPr>
        <p:cNvPr id="1" name=""/>
        <p:cNvGrpSpPr/>
        <p:nvPr/>
      </p:nvGrpSpPr>
      <p:grpSpPr/>
      <p:sp>
        <p:nvSpPr>
          <p:cNvPr id="2" name="Rectangle 1"/>
          <p:cNvSpPr/>
          <p:nvPr/>
        </p:nvSpPr>
        <p:spPr>
          <a:xfrm>
            <a:off x="0" y="0"/>
            <a:ext cx="73152"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74320"/>
            <a:ext cx="10972800" cy="365760"/>
          </a:xfrm>
          <a:prstGeom prst="rect">
            <a:avLst/>
          </a:prstGeom>
          <a:noFill/>
        </p:spPr>
        <p:txBody>
          <a:bodyPr wrap="square">
            <a:spAutoFit/>
          </a:bodyPr>
          <a:lstStyle/>
          <a:p>
            <a:pPr algn="l"/>
            <a:r>
              <a:rPr sz="1100" b="1" i="0">
                <a:solidFill>
                  <a:srgbClr val="B45309"/>
                </a:solidFill>
                <a:latin typeface="Calibri"/>
              </a:rPr>
              <a:t>LA CIENCIA DEL RECUERDO PUBLICITARIO EN RADIO</a:t>
            </a:r>
          </a:p>
        </p:txBody>
      </p:sp>
      <p:sp>
        <p:nvSpPr>
          <p:cNvPr id="4" name="TextBox 3"/>
          <p:cNvSpPr txBox="1"/>
          <p:nvPr/>
        </p:nvSpPr>
        <p:spPr>
          <a:xfrm>
            <a:off x="365760" y="685800"/>
            <a:ext cx="10972800" cy="914400"/>
          </a:xfrm>
          <a:prstGeom prst="rect">
            <a:avLst/>
          </a:prstGeom>
          <a:noFill/>
        </p:spPr>
        <p:txBody>
          <a:bodyPr wrap="square">
            <a:spAutoFit/>
          </a:bodyPr>
          <a:lstStyle/>
          <a:p>
            <a:pPr algn="l"/>
            <a:r>
              <a:rPr b="1" sz="3200" i="0">
                <a:solidFill>
                  <a:srgbClr val="181410"/>
                </a:solidFill>
                <a:latin typeface="Georgia"/>
              </a:rPr>
              <a:t>Sin frecuencia suficiente,</a:t>
            </a:r>
          </a:p>
          <a:p>
            <a:pPr algn="l"/>
            <a:r>
              <a:rPr b="0" sz="3200" i="0">
                <a:solidFill>
                  <a:srgbClr val="181410"/>
                </a:solidFill>
                <a:latin typeface="Georgia"/>
              </a:rPr>
              <a:t> la campaña no genera recuerdo.</a:t>
            </a:r>
          </a:p>
        </p:txBody>
      </p:sp>
      <p:sp>
        <p:nvSpPr>
          <p:cNvPr id="5" name="Rectangle 4"/>
          <p:cNvSpPr/>
          <p:nvPr/>
        </p:nvSpPr>
        <p:spPr>
          <a:xfrm>
            <a:off x="365760" y="1737360"/>
            <a:ext cx="11338560" cy="502920"/>
          </a:xfrm>
          <a:prstGeom prst="rect">
            <a:avLst/>
          </a:prstGeom>
          <a:solidFill>
            <a:srgbClr val="040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83080"/>
            <a:ext cx="10972800" cy="411480"/>
          </a:xfrm>
          <a:prstGeom prst="rect">
            <a:avLst/>
          </a:prstGeom>
          <a:noFill/>
        </p:spPr>
        <p:txBody>
          <a:bodyPr wrap="square">
            <a:spAutoFit/>
          </a:bodyPr>
          <a:lstStyle/>
          <a:p>
            <a:pPr algn="l"/>
            <a:r>
              <a:rPr sz="1200" b="0" i="1">
                <a:solidFill>
                  <a:srgbClr val="10B981"/>
                </a:solidFill>
                <a:latin typeface="Calibri"/>
              </a:rPr>
              <a:t>Estudio EFI Radio · Neuromedia / TRES14 Research · Análisis de más de 1.000 campañas de radio</a:t>
            </a:r>
          </a:p>
        </p:txBody>
      </p:sp>
      <p:sp>
        <p:nvSpPr>
          <p:cNvPr id="7" name="Rectangle 6"/>
          <p:cNvSpPr/>
          <p:nvPr/>
        </p:nvSpPr>
        <p:spPr>
          <a:xfrm>
            <a:off x="365760" y="2377440"/>
            <a:ext cx="2834640" cy="329184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377440"/>
            <a:ext cx="283464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2468880"/>
            <a:ext cx="2606040" cy="1005840"/>
          </a:xfrm>
          <a:prstGeom prst="rect">
            <a:avLst/>
          </a:prstGeom>
          <a:noFill/>
        </p:spPr>
        <p:txBody>
          <a:bodyPr wrap="square">
            <a:spAutoFit/>
          </a:bodyPr>
          <a:lstStyle/>
          <a:p>
            <a:pPr algn="l"/>
            <a:r>
              <a:rPr sz="3400" b="1" i="0">
                <a:solidFill>
                  <a:srgbClr val="10B981"/>
                </a:solidFill>
                <a:latin typeface="Georgia"/>
              </a:rPr>
              <a:t>4°
impacto</a:t>
            </a:r>
          </a:p>
        </p:txBody>
      </p:sp>
      <p:sp>
        <p:nvSpPr>
          <p:cNvPr id="10" name="TextBox 9"/>
          <p:cNvSpPr txBox="1"/>
          <p:nvPr/>
        </p:nvSpPr>
        <p:spPr>
          <a:xfrm>
            <a:off x="475488" y="3429000"/>
            <a:ext cx="2606040" cy="457200"/>
          </a:xfrm>
          <a:prstGeom prst="rect">
            <a:avLst/>
          </a:prstGeom>
          <a:noFill/>
        </p:spPr>
        <p:txBody>
          <a:bodyPr wrap="square">
            <a:spAutoFit/>
          </a:bodyPr>
          <a:lstStyle/>
          <a:p>
            <a:pPr algn="l"/>
            <a:r>
              <a:rPr sz="1300" b="1" i="0">
                <a:solidFill>
                  <a:srgbClr val="FFFFFF"/>
                </a:solidFill>
                <a:latin typeface="Calibri"/>
              </a:rPr>
              <a:t>El umbral mínimo</a:t>
            </a:r>
          </a:p>
        </p:txBody>
      </p:sp>
      <p:sp>
        <p:nvSpPr>
          <p:cNvPr id="11" name="TextBox 10"/>
          <p:cNvSpPr txBox="1"/>
          <p:nvPr/>
        </p:nvSpPr>
        <p:spPr>
          <a:xfrm>
            <a:off x="475488" y="3913632"/>
            <a:ext cx="2606040" cy="1645920"/>
          </a:xfrm>
          <a:prstGeom prst="rect">
            <a:avLst/>
          </a:prstGeom>
          <a:noFill/>
        </p:spPr>
        <p:txBody>
          <a:bodyPr wrap="square">
            <a:spAutoFit/>
          </a:bodyPr>
          <a:lstStyle/>
          <a:p>
            <a:pPr algn="l"/>
            <a:r>
              <a:rPr sz="1100" b="0" i="0">
                <a:solidFill>
                  <a:srgbClr val="8AA0B8"/>
                </a:solidFill>
                <a:latin typeface="Calibri"/>
              </a:rPr>
              <a:t>El recuerdo empieza a construirse a partir del cuarto impacto semanal.</a:t>
            </a:r>
          </a:p>
        </p:txBody>
      </p:sp>
      <p:sp>
        <p:nvSpPr>
          <p:cNvPr id="12" name="Rectangle 11"/>
          <p:cNvSpPr/>
          <p:nvPr/>
        </p:nvSpPr>
        <p:spPr>
          <a:xfrm>
            <a:off x="3319272" y="2377440"/>
            <a:ext cx="2834640" cy="3291840"/>
          </a:xfrm>
          <a:prstGeom prst="rect">
            <a:avLst/>
          </a:prstGeom>
          <a:solidFill>
            <a:srgbClr val="040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9272" y="2377440"/>
            <a:ext cx="2834640" cy="64008"/>
          </a:xfrm>
          <a:prstGeom prst="rect">
            <a:avLst/>
          </a:prstGeom>
          <a:solidFill>
            <a:srgbClr val="0D4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9000" y="2468880"/>
            <a:ext cx="2606040" cy="1005840"/>
          </a:xfrm>
          <a:prstGeom prst="rect">
            <a:avLst/>
          </a:prstGeom>
          <a:noFill/>
        </p:spPr>
        <p:txBody>
          <a:bodyPr wrap="square">
            <a:spAutoFit/>
          </a:bodyPr>
          <a:lstStyle/>
          <a:p>
            <a:pPr algn="l"/>
            <a:r>
              <a:rPr sz="3400" b="1" i="0">
                <a:solidFill>
                  <a:srgbClr val="0D4FA8"/>
                </a:solidFill>
                <a:latin typeface="Georgia"/>
              </a:rPr>
              <a:t>7–17
contactos</a:t>
            </a:r>
          </a:p>
        </p:txBody>
      </p:sp>
      <p:sp>
        <p:nvSpPr>
          <p:cNvPr id="15" name="TextBox 14"/>
          <p:cNvSpPr txBox="1"/>
          <p:nvPr/>
        </p:nvSpPr>
        <p:spPr>
          <a:xfrm>
            <a:off x="3429000" y="3429000"/>
            <a:ext cx="2606040" cy="457200"/>
          </a:xfrm>
          <a:prstGeom prst="rect">
            <a:avLst/>
          </a:prstGeom>
          <a:noFill/>
        </p:spPr>
        <p:txBody>
          <a:bodyPr wrap="square">
            <a:spAutoFit/>
          </a:bodyPr>
          <a:lstStyle/>
          <a:p>
            <a:pPr algn="l"/>
            <a:r>
              <a:rPr sz="1300" b="1" i="0">
                <a:solidFill>
                  <a:srgbClr val="FFFFFF"/>
                </a:solidFill>
                <a:latin typeface="Calibri"/>
              </a:rPr>
              <a:t>El rango eficaz</a:t>
            </a:r>
          </a:p>
        </p:txBody>
      </p:sp>
      <p:sp>
        <p:nvSpPr>
          <p:cNvPr id="16" name="TextBox 15"/>
          <p:cNvSpPr txBox="1"/>
          <p:nvPr/>
        </p:nvSpPr>
        <p:spPr>
          <a:xfrm>
            <a:off x="3429000" y="3913632"/>
            <a:ext cx="2606040" cy="1645920"/>
          </a:xfrm>
          <a:prstGeom prst="rect">
            <a:avLst/>
          </a:prstGeom>
          <a:noFill/>
        </p:spPr>
        <p:txBody>
          <a:bodyPr wrap="square">
            <a:spAutoFit/>
          </a:bodyPr>
          <a:lstStyle/>
          <a:p>
            <a:pPr algn="l"/>
            <a:r>
              <a:rPr sz="1100" b="0" i="0">
                <a:solidFill>
                  <a:srgbClr val="8AA0B8"/>
                </a:solidFill>
                <a:latin typeface="Calibri"/>
              </a:rPr>
              <a:t>El rango de eficacia máxima. A partir de 17 la curva se satura y deja de crecer.</a:t>
            </a:r>
          </a:p>
        </p:txBody>
      </p:sp>
      <p:sp>
        <p:nvSpPr>
          <p:cNvPr id="17" name="Rectangle 16"/>
          <p:cNvSpPr/>
          <p:nvPr/>
        </p:nvSpPr>
        <p:spPr>
          <a:xfrm>
            <a:off x="6272784" y="2377440"/>
            <a:ext cx="2834640" cy="329184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2784" y="2377440"/>
            <a:ext cx="2834640"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2468880"/>
            <a:ext cx="2606040" cy="1005840"/>
          </a:xfrm>
          <a:prstGeom prst="rect">
            <a:avLst/>
          </a:prstGeom>
          <a:noFill/>
        </p:spPr>
        <p:txBody>
          <a:bodyPr wrap="square">
            <a:spAutoFit/>
          </a:bodyPr>
          <a:lstStyle/>
          <a:p>
            <a:pPr algn="l"/>
            <a:r>
              <a:rPr sz="3400" b="1" i="0">
                <a:solidFill>
                  <a:srgbClr val="B45309"/>
                </a:solidFill>
                <a:latin typeface="Georgia"/>
              </a:rPr>
              <a:t>27%
de campañas</a:t>
            </a:r>
          </a:p>
        </p:txBody>
      </p:sp>
      <p:sp>
        <p:nvSpPr>
          <p:cNvPr id="20" name="TextBox 19"/>
          <p:cNvSpPr txBox="1"/>
          <p:nvPr/>
        </p:nvSpPr>
        <p:spPr>
          <a:xfrm>
            <a:off x="6382512" y="3429000"/>
            <a:ext cx="2606040" cy="457200"/>
          </a:xfrm>
          <a:prstGeom prst="rect">
            <a:avLst/>
          </a:prstGeom>
          <a:noFill/>
        </p:spPr>
        <p:txBody>
          <a:bodyPr wrap="square">
            <a:spAutoFit/>
          </a:bodyPr>
          <a:lstStyle/>
          <a:p>
            <a:pPr algn="l"/>
            <a:r>
              <a:rPr sz="1300" b="1" i="0">
                <a:solidFill>
                  <a:srgbClr val="FFFFFF"/>
                </a:solidFill>
                <a:latin typeface="Calibri"/>
              </a:rPr>
              <a:t>No generan recuerdo</a:t>
            </a:r>
          </a:p>
        </p:txBody>
      </p:sp>
      <p:sp>
        <p:nvSpPr>
          <p:cNvPr id="21" name="TextBox 20"/>
          <p:cNvSpPr txBox="1"/>
          <p:nvPr/>
        </p:nvSpPr>
        <p:spPr>
          <a:xfrm>
            <a:off x="6382512" y="3913632"/>
            <a:ext cx="2606040" cy="1645920"/>
          </a:xfrm>
          <a:prstGeom prst="rect">
            <a:avLst/>
          </a:prstGeom>
          <a:noFill/>
        </p:spPr>
        <p:txBody>
          <a:bodyPr wrap="square">
            <a:spAutoFit/>
          </a:bodyPr>
          <a:lstStyle/>
          <a:p>
            <a:pPr algn="l"/>
            <a:r>
              <a:rPr sz="1100" b="0" i="0">
                <a:solidFill>
                  <a:srgbClr val="8AA0B8"/>
                </a:solidFill>
                <a:latin typeface="Calibri"/>
              </a:rPr>
              <a:t>Por debajo del umbral mínimo de frecuencia. Inversión sin retorno de notoriedad.</a:t>
            </a:r>
          </a:p>
        </p:txBody>
      </p:sp>
      <p:sp>
        <p:nvSpPr>
          <p:cNvPr id="22" name="Rectangle 21"/>
          <p:cNvSpPr/>
          <p:nvPr/>
        </p:nvSpPr>
        <p:spPr>
          <a:xfrm>
            <a:off x="9226296" y="2377440"/>
            <a:ext cx="2834640" cy="3291840"/>
          </a:xfrm>
          <a:prstGeom prst="rect">
            <a:avLst/>
          </a:prstGeom>
          <a:solidFill>
            <a:srgbClr val="040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26296" y="2377440"/>
            <a:ext cx="2834640" cy="64008"/>
          </a:xfrm>
          <a:prstGeom prst="rect">
            <a:avLst/>
          </a:prstGeom>
          <a:solidFill>
            <a:srgbClr val="B0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36024" y="2468880"/>
            <a:ext cx="2606040" cy="1005840"/>
          </a:xfrm>
          <a:prstGeom prst="rect">
            <a:avLst/>
          </a:prstGeom>
          <a:noFill/>
        </p:spPr>
        <p:txBody>
          <a:bodyPr wrap="square">
            <a:spAutoFit/>
          </a:bodyPr>
          <a:lstStyle/>
          <a:p>
            <a:pPr algn="l"/>
            <a:r>
              <a:rPr sz="3400" b="1" i="0">
                <a:solidFill>
                  <a:srgbClr val="B01C1C"/>
                </a:solidFill>
                <a:latin typeface="Georgia"/>
              </a:rPr>
              <a:t>34%
de campañas</a:t>
            </a:r>
          </a:p>
        </p:txBody>
      </p:sp>
      <p:sp>
        <p:nvSpPr>
          <p:cNvPr id="25" name="TextBox 24"/>
          <p:cNvSpPr txBox="1"/>
          <p:nvPr/>
        </p:nvSpPr>
        <p:spPr>
          <a:xfrm>
            <a:off x="9336024" y="3429000"/>
            <a:ext cx="2606040" cy="457200"/>
          </a:xfrm>
          <a:prstGeom prst="rect">
            <a:avLst/>
          </a:prstGeom>
          <a:noFill/>
        </p:spPr>
        <p:txBody>
          <a:bodyPr wrap="square">
            <a:spAutoFit/>
          </a:bodyPr>
          <a:lstStyle/>
          <a:p>
            <a:pPr algn="l"/>
            <a:r>
              <a:rPr sz="1300" b="1" i="0">
                <a:solidFill>
                  <a:srgbClr val="FFFFFF"/>
                </a:solidFill>
                <a:latin typeface="Calibri"/>
              </a:rPr>
              <a:t>Construcción tardía</a:t>
            </a:r>
          </a:p>
        </p:txBody>
      </p:sp>
      <p:sp>
        <p:nvSpPr>
          <p:cNvPr id="26" name="TextBox 25"/>
          <p:cNvSpPr txBox="1"/>
          <p:nvPr/>
        </p:nvSpPr>
        <p:spPr>
          <a:xfrm>
            <a:off x="9336024" y="3913632"/>
            <a:ext cx="2606040" cy="1645920"/>
          </a:xfrm>
          <a:prstGeom prst="rect">
            <a:avLst/>
          </a:prstGeom>
          <a:noFill/>
        </p:spPr>
        <p:txBody>
          <a:bodyPr wrap="square">
            <a:spAutoFit/>
          </a:bodyPr>
          <a:lstStyle/>
          <a:p>
            <a:pPr algn="l"/>
            <a:r>
              <a:rPr sz="1100" b="0" i="0">
                <a:solidFill>
                  <a:srgbClr val="8AA0B8"/>
                </a:solidFill>
                <a:latin typeface="Calibri"/>
              </a:rPr>
              <a:t>El recuerdo llega tarde, cuando la campaña ya terminó. Ineficiencia planificada.</a:t>
            </a:r>
          </a:p>
        </p:txBody>
      </p:sp>
      <p:sp>
        <p:nvSpPr>
          <p:cNvPr id="27" name="TextBox 26"/>
          <p:cNvSpPr txBox="1"/>
          <p:nvPr/>
        </p:nvSpPr>
        <p:spPr>
          <a:xfrm>
            <a:off x="365760" y="6400800"/>
            <a:ext cx="11430000" cy="347472"/>
          </a:xfrm>
          <a:prstGeom prst="rect">
            <a:avLst/>
          </a:prstGeom>
          <a:noFill/>
        </p:spPr>
        <p:txBody>
          <a:bodyPr wrap="square">
            <a:spAutoFit/>
          </a:bodyPr>
          <a:lstStyle/>
          <a:p>
            <a:pPr algn="l"/>
            <a:r>
              <a:rPr sz="900" b="0" i="1">
                <a:solidFill>
                  <a:srgbClr val="A09E98"/>
                </a:solidFill>
                <a:latin typeface="Calibri"/>
              </a:rPr>
              <a:t>Fuente: EFI Radio — Neuromedia / TRES14 Research. MarketingDirecto.com + ReasonWhy.es, 2018. Datos: Infoadex, Google, EGM, IMOP.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40E1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74320"/>
            <a:ext cx="10972800" cy="365760"/>
          </a:xfrm>
          <a:prstGeom prst="rect">
            <a:avLst/>
          </a:prstGeom>
          <a:noFill/>
        </p:spPr>
        <p:txBody>
          <a:bodyPr wrap="square">
            <a:spAutoFit/>
          </a:bodyPr>
          <a:lstStyle/>
          <a:p>
            <a:pPr algn="l"/>
            <a:r>
              <a:rPr sz="1100" b="1" i="0">
                <a:solidFill>
                  <a:srgbClr val="10B981"/>
                </a:solidFill>
                <a:latin typeface="Calibri"/>
              </a:rPr>
              <a:t>EL FORMATO DE PLANES MMX VS. COMPRA TÁCTICA</a:t>
            </a:r>
          </a:p>
        </p:txBody>
      </p:sp>
      <p:sp>
        <p:nvSpPr>
          <p:cNvPr id="4" name="TextBox 3"/>
          <p:cNvSpPr txBox="1"/>
          <p:nvPr/>
        </p:nvSpPr>
        <p:spPr>
          <a:xfrm>
            <a:off x="365760" y="685800"/>
            <a:ext cx="10972800" cy="914400"/>
          </a:xfrm>
          <a:prstGeom prst="rect">
            <a:avLst/>
          </a:prstGeom>
          <a:noFill/>
        </p:spPr>
        <p:txBody>
          <a:bodyPr wrap="square">
            <a:spAutoFit/>
          </a:bodyPr>
          <a:lstStyle/>
          <a:p>
            <a:pPr algn="l"/>
            <a:r>
              <a:rPr b="0" sz="3200" i="0">
                <a:solidFill>
                  <a:srgbClr val="FFFFFF"/>
                </a:solidFill>
                <a:latin typeface="Georgia"/>
              </a:rPr>
              <a:t>4 salidas diarias · 5 radios · 30 días =  </a:t>
            </a:r>
          </a:p>
          <a:p>
            <a:pPr algn="l"/>
            <a:r>
              <a:rPr b="1" sz="3200" i="0">
                <a:solidFill>
                  <a:srgbClr val="10B981"/>
                </a:solidFill>
                <a:latin typeface="Georgia"/>
              </a:rPr>
              <a:t>600 impactos por plaza.</a:t>
            </a:r>
          </a:p>
        </p:txBody>
      </p:sp>
      <p:sp>
        <p:nvSpPr>
          <p:cNvPr id="5" name="Rectangle 4"/>
          <p:cNvSpPr/>
          <p:nvPr/>
        </p:nvSpPr>
        <p:spPr>
          <a:xfrm>
            <a:off x="365760" y="1828800"/>
            <a:ext cx="5394960" cy="50292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0" y="1828800"/>
            <a:ext cx="5852160" cy="50292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847088"/>
            <a:ext cx="5394960" cy="457200"/>
          </a:xfrm>
          <a:prstGeom prst="rect">
            <a:avLst/>
          </a:prstGeom>
          <a:noFill/>
        </p:spPr>
        <p:txBody>
          <a:bodyPr wrap="square">
            <a:spAutoFit/>
          </a:bodyPr>
          <a:lstStyle/>
          <a:p>
            <a:pPr algn="ctr"/>
            <a:r>
              <a:rPr sz="1600" b="1" i="0">
                <a:solidFill>
                  <a:srgbClr val="A09E98"/>
                </a:solidFill>
                <a:latin typeface="Calibri"/>
              </a:rPr>
              <a:t>Compra táctica AMBA</a:t>
            </a:r>
          </a:p>
        </p:txBody>
      </p:sp>
      <p:sp>
        <p:nvSpPr>
          <p:cNvPr id="8" name="TextBox 7"/>
          <p:cNvSpPr txBox="1"/>
          <p:nvPr/>
        </p:nvSpPr>
        <p:spPr>
          <a:xfrm>
            <a:off x="5943600" y="1847088"/>
            <a:ext cx="5852160" cy="457200"/>
          </a:xfrm>
          <a:prstGeom prst="rect">
            <a:avLst/>
          </a:prstGeom>
          <a:noFill/>
        </p:spPr>
        <p:txBody>
          <a:bodyPr wrap="square">
            <a:spAutoFit/>
          </a:bodyPr>
          <a:lstStyle/>
          <a:p>
            <a:pPr algn="ctr"/>
            <a:r>
              <a:rPr sz="1600" b="1" i="0">
                <a:solidFill>
                  <a:srgbClr val="FFFFFF"/>
                </a:solidFill>
                <a:latin typeface="Calibri"/>
              </a:rPr>
              <a:t>Plan MMX Interior</a:t>
            </a:r>
          </a:p>
        </p:txBody>
      </p:sp>
      <p:sp>
        <p:nvSpPr>
          <p:cNvPr id="9" name="Rectangle 8"/>
          <p:cNvSpPr/>
          <p:nvPr/>
        </p:nvSpPr>
        <p:spPr>
          <a:xfrm>
            <a:off x="365760" y="2395728"/>
            <a:ext cx="5394960" cy="621792"/>
          </a:xfrm>
          <a:prstGeom prst="rect">
            <a:avLst/>
          </a:prstGeom>
          <a:solidFill>
            <a:srgbClr val="08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0" y="2395728"/>
            <a:ext cx="5852160" cy="621792"/>
          </a:xfrm>
          <a:prstGeom prst="rect">
            <a:avLst/>
          </a:prstGeom>
          <a:solidFill>
            <a:srgbClr val="04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441448"/>
            <a:ext cx="2560320" cy="530352"/>
          </a:xfrm>
          <a:prstGeom prst="rect">
            <a:avLst/>
          </a:prstGeom>
          <a:noFill/>
        </p:spPr>
        <p:txBody>
          <a:bodyPr wrap="square">
            <a:spAutoFit/>
          </a:bodyPr>
          <a:lstStyle/>
          <a:p>
            <a:pPr algn="l"/>
            <a:r>
              <a:rPr sz="1200" b="0" i="0">
                <a:solidFill>
                  <a:srgbClr val="A09E98"/>
                </a:solidFill>
                <a:latin typeface="Calibri"/>
              </a:rPr>
              <a:t>Frecuencia diaria</a:t>
            </a:r>
          </a:p>
        </p:txBody>
      </p:sp>
      <p:sp>
        <p:nvSpPr>
          <p:cNvPr id="12" name="TextBox 11"/>
          <p:cNvSpPr txBox="1"/>
          <p:nvPr/>
        </p:nvSpPr>
        <p:spPr>
          <a:xfrm>
            <a:off x="3154680" y="2441448"/>
            <a:ext cx="2468880" cy="530352"/>
          </a:xfrm>
          <a:prstGeom prst="rect">
            <a:avLst/>
          </a:prstGeom>
          <a:noFill/>
        </p:spPr>
        <p:txBody>
          <a:bodyPr wrap="square">
            <a:spAutoFit/>
          </a:bodyPr>
          <a:lstStyle/>
          <a:p>
            <a:pPr algn="ctr"/>
            <a:r>
              <a:rPr sz="1300" b="0" i="0">
                <a:solidFill>
                  <a:srgbClr val="C06060"/>
                </a:solidFill>
                <a:latin typeface="Calibri"/>
              </a:rPr>
              <a:t>~2 avisos por radio</a:t>
            </a:r>
          </a:p>
        </p:txBody>
      </p:sp>
      <p:sp>
        <p:nvSpPr>
          <p:cNvPr id="13" name="TextBox 12"/>
          <p:cNvSpPr txBox="1"/>
          <p:nvPr/>
        </p:nvSpPr>
        <p:spPr>
          <a:xfrm>
            <a:off x="6035040" y="2441448"/>
            <a:ext cx="5669280" cy="530352"/>
          </a:xfrm>
          <a:prstGeom prst="rect">
            <a:avLst/>
          </a:prstGeom>
          <a:noFill/>
        </p:spPr>
        <p:txBody>
          <a:bodyPr wrap="square">
            <a:spAutoFit/>
          </a:bodyPr>
          <a:lstStyle/>
          <a:p>
            <a:pPr algn="ctr"/>
            <a:r>
              <a:rPr sz="1300" b="0" i="0">
                <a:solidFill>
                  <a:srgbClr val="10B981"/>
                </a:solidFill>
                <a:latin typeface="Calibri"/>
              </a:rPr>
              <a:t>4 garantizados por radio</a:t>
            </a:r>
          </a:p>
        </p:txBody>
      </p:sp>
      <p:sp>
        <p:nvSpPr>
          <p:cNvPr id="14" name="Rectangle 13"/>
          <p:cNvSpPr/>
          <p:nvPr/>
        </p:nvSpPr>
        <p:spPr>
          <a:xfrm>
            <a:off x="365760" y="3054096"/>
            <a:ext cx="5394960" cy="621792"/>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0" y="3054096"/>
            <a:ext cx="5852160" cy="621792"/>
          </a:xfrm>
          <a:prstGeom prst="rect">
            <a:avLst/>
          </a:prstGeom>
          <a:solidFill>
            <a:srgbClr val="032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099815"/>
            <a:ext cx="2560320" cy="530352"/>
          </a:xfrm>
          <a:prstGeom prst="rect">
            <a:avLst/>
          </a:prstGeom>
          <a:noFill/>
        </p:spPr>
        <p:txBody>
          <a:bodyPr wrap="square">
            <a:spAutoFit/>
          </a:bodyPr>
          <a:lstStyle/>
          <a:p>
            <a:pPr algn="l"/>
            <a:r>
              <a:rPr sz="1200" b="0" i="0">
                <a:solidFill>
                  <a:srgbClr val="A09E98"/>
                </a:solidFill>
                <a:latin typeface="Calibri"/>
              </a:rPr>
              <a:t>Avisos/mes por radio</a:t>
            </a:r>
          </a:p>
        </p:txBody>
      </p:sp>
      <p:sp>
        <p:nvSpPr>
          <p:cNvPr id="17" name="TextBox 16"/>
          <p:cNvSpPr txBox="1"/>
          <p:nvPr/>
        </p:nvSpPr>
        <p:spPr>
          <a:xfrm>
            <a:off x="3154680" y="3099815"/>
            <a:ext cx="2468880" cy="530352"/>
          </a:xfrm>
          <a:prstGeom prst="rect">
            <a:avLst/>
          </a:prstGeom>
          <a:noFill/>
        </p:spPr>
        <p:txBody>
          <a:bodyPr wrap="square">
            <a:spAutoFit/>
          </a:bodyPr>
          <a:lstStyle/>
          <a:p>
            <a:pPr algn="ctr"/>
            <a:r>
              <a:rPr sz="1300" b="0" i="0">
                <a:solidFill>
                  <a:srgbClr val="C06060"/>
                </a:solidFill>
                <a:latin typeface="Calibri"/>
              </a:rPr>
              <a:t>6–12 spots</a:t>
            </a:r>
          </a:p>
        </p:txBody>
      </p:sp>
      <p:sp>
        <p:nvSpPr>
          <p:cNvPr id="18" name="TextBox 17"/>
          <p:cNvSpPr txBox="1"/>
          <p:nvPr/>
        </p:nvSpPr>
        <p:spPr>
          <a:xfrm>
            <a:off x="6035040" y="3099815"/>
            <a:ext cx="5669280" cy="530352"/>
          </a:xfrm>
          <a:prstGeom prst="rect">
            <a:avLst/>
          </a:prstGeom>
          <a:noFill/>
        </p:spPr>
        <p:txBody>
          <a:bodyPr wrap="square">
            <a:spAutoFit/>
          </a:bodyPr>
          <a:lstStyle/>
          <a:p>
            <a:pPr algn="ctr"/>
            <a:r>
              <a:rPr sz="1300" b="0" i="0">
                <a:solidFill>
                  <a:srgbClr val="10B981"/>
                </a:solidFill>
                <a:latin typeface="Calibri"/>
              </a:rPr>
              <a:t>120 spots</a:t>
            </a:r>
          </a:p>
        </p:txBody>
      </p:sp>
      <p:sp>
        <p:nvSpPr>
          <p:cNvPr id="19" name="Rectangle 18"/>
          <p:cNvSpPr/>
          <p:nvPr/>
        </p:nvSpPr>
        <p:spPr>
          <a:xfrm>
            <a:off x="365760" y="3712464"/>
            <a:ext cx="5394960" cy="621792"/>
          </a:xfrm>
          <a:prstGeom prst="rect">
            <a:avLst/>
          </a:prstGeom>
          <a:solidFill>
            <a:srgbClr val="08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43600" y="3712464"/>
            <a:ext cx="5852160" cy="621792"/>
          </a:xfrm>
          <a:prstGeom prst="rect">
            <a:avLst/>
          </a:prstGeom>
          <a:solidFill>
            <a:srgbClr val="04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758184"/>
            <a:ext cx="2560320" cy="530352"/>
          </a:xfrm>
          <a:prstGeom prst="rect">
            <a:avLst/>
          </a:prstGeom>
          <a:noFill/>
        </p:spPr>
        <p:txBody>
          <a:bodyPr wrap="square">
            <a:spAutoFit/>
          </a:bodyPr>
          <a:lstStyle/>
          <a:p>
            <a:pPr algn="l"/>
            <a:r>
              <a:rPr sz="1200" b="0" i="0">
                <a:solidFill>
                  <a:srgbClr val="A09E98"/>
                </a:solidFill>
                <a:latin typeface="Calibri"/>
              </a:rPr>
              <a:t>Radios incluidas</a:t>
            </a:r>
          </a:p>
        </p:txBody>
      </p:sp>
      <p:sp>
        <p:nvSpPr>
          <p:cNvPr id="22" name="TextBox 21"/>
          <p:cNvSpPr txBox="1"/>
          <p:nvPr/>
        </p:nvSpPr>
        <p:spPr>
          <a:xfrm>
            <a:off x="3154680" y="3758184"/>
            <a:ext cx="2468880" cy="530352"/>
          </a:xfrm>
          <a:prstGeom prst="rect">
            <a:avLst/>
          </a:prstGeom>
          <a:noFill/>
        </p:spPr>
        <p:txBody>
          <a:bodyPr wrap="square">
            <a:spAutoFit/>
          </a:bodyPr>
          <a:lstStyle/>
          <a:p>
            <a:pPr algn="ctr"/>
            <a:r>
              <a:rPr sz="1300" b="0" i="0">
                <a:solidFill>
                  <a:srgbClr val="C06060"/>
                </a:solidFill>
                <a:latin typeface="Calibri"/>
              </a:rPr>
              <a:t>1–2 por compra</a:t>
            </a:r>
          </a:p>
        </p:txBody>
      </p:sp>
      <p:sp>
        <p:nvSpPr>
          <p:cNvPr id="23" name="TextBox 22"/>
          <p:cNvSpPr txBox="1"/>
          <p:nvPr/>
        </p:nvSpPr>
        <p:spPr>
          <a:xfrm>
            <a:off x="6035040" y="3758184"/>
            <a:ext cx="5669280" cy="530352"/>
          </a:xfrm>
          <a:prstGeom prst="rect">
            <a:avLst/>
          </a:prstGeom>
          <a:noFill/>
        </p:spPr>
        <p:txBody>
          <a:bodyPr wrap="square">
            <a:spAutoFit/>
          </a:bodyPr>
          <a:lstStyle/>
          <a:p>
            <a:pPr algn="ctr"/>
            <a:r>
              <a:rPr sz="1300" b="0" i="0">
                <a:solidFill>
                  <a:srgbClr val="10B981"/>
                </a:solidFill>
                <a:latin typeface="Calibri"/>
              </a:rPr>
              <a:t>Top 5 de la plaza</a:t>
            </a:r>
          </a:p>
        </p:txBody>
      </p:sp>
      <p:sp>
        <p:nvSpPr>
          <p:cNvPr id="24" name="Rectangle 23"/>
          <p:cNvSpPr/>
          <p:nvPr/>
        </p:nvSpPr>
        <p:spPr>
          <a:xfrm>
            <a:off x="365760" y="4370832"/>
            <a:ext cx="5394960" cy="621792"/>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0" y="4370832"/>
            <a:ext cx="5852160" cy="621792"/>
          </a:xfrm>
          <a:prstGeom prst="rect">
            <a:avLst/>
          </a:prstGeom>
          <a:solidFill>
            <a:srgbClr val="032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4416552"/>
            <a:ext cx="2560320" cy="530352"/>
          </a:xfrm>
          <a:prstGeom prst="rect">
            <a:avLst/>
          </a:prstGeom>
          <a:noFill/>
        </p:spPr>
        <p:txBody>
          <a:bodyPr wrap="square">
            <a:spAutoFit/>
          </a:bodyPr>
          <a:lstStyle/>
          <a:p>
            <a:pPr algn="l"/>
            <a:r>
              <a:rPr sz="1200" b="0" i="0">
                <a:solidFill>
                  <a:srgbClr val="A09E98"/>
                </a:solidFill>
                <a:latin typeface="Calibri"/>
              </a:rPr>
              <a:t>Cobertura plaza</a:t>
            </a:r>
          </a:p>
        </p:txBody>
      </p:sp>
      <p:sp>
        <p:nvSpPr>
          <p:cNvPr id="27" name="TextBox 26"/>
          <p:cNvSpPr txBox="1"/>
          <p:nvPr/>
        </p:nvSpPr>
        <p:spPr>
          <a:xfrm>
            <a:off x="3154680" y="4416552"/>
            <a:ext cx="2468880" cy="530352"/>
          </a:xfrm>
          <a:prstGeom prst="rect">
            <a:avLst/>
          </a:prstGeom>
          <a:noFill/>
        </p:spPr>
        <p:txBody>
          <a:bodyPr wrap="square">
            <a:spAutoFit/>
          </a:bodyPr>
          <a:lstStyle/>
          <a:p>
            <a:pPr algn="ctr"/>
            <a:r>
              <a:rPr sz="1300" b="0" i="0">
                <a:solidFill>
                  <a:srgbClr val="C06060"/>
                </a:solidFill>
                <a:latin typeface="Calibri"/>
              </a:rPr>
              <a:t>Parcial e irregular</a:t>
            </a:r>
          </a:p>
        </p:txBody>
      </p:sp>
      <p:sp>
        <p:nvSpPr>
          <p:cNvPr id="28" name="TextBox 27"/>
          <p:cNvSpPr txBox="1"/>
          <p:nvPr/>
        </p:nvSpPr>
        <p:spPr>
          <a:xfrm>
            <a:off x="6035040" y="4416552"/>
            <a:ext cx="5669280" cy="530352"/>
          </a:xfrm>
          <a:prstGeom prst="rect">
            <a:avLst/>
          </a:prstGeom>
          <a:noFill/>
        </p:spPr>
        <p:txBody>
          <a:bodyPr wrap="square">
            <a:spAutoFit/>
          </a:bodyPr>
          <a:lstStyle/>
          <a:p>
            <a:pPr algn="ctr"/>
            <a:r>
              <a:rPr sz="1300" b="0" i="0">
                <a:solidFill>
                  <a:srgbClr val="10B981"/>
                </a:solidFill>
                <a:latin typeface="Calibri"/>
              </a:rPr>
              <a:t>~50% del universo radio</a:t>
            </a:r>
          </a:p>
        </p:txBody>
      </p:sp>
      <p:sp>
        <p:nvSpPr>
          <p:cNvPr id="29" name="Rectangle 28"/>
          <p:cNvSpPr/>
          <p:nvPr/>
        </p:nvSpPr>
        <p:spPr>
          <a:xfrm>
            <a:off x="365760" y="5029200"/>
            <a:ext cx="5394960" cy="621792"/>
          </a:xfrm>
          <a:prstGeom prst="rect">
            <a:avLst/>
          </a:prstGeom>
          <a:solidFill>
            <a:srgbClr val="08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943600" y="5029200"/>
            <a:ext cx="5852160" cy="621792"/>
          </a:xfrm>
          <a:prstGeom prst="rect">
            <a:avLst/>
          </a:prstGeom>
          <a:solidFill>
            <a:srgbClr val="04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5074920"/>
            <a:ext cx="2560320" cy="530352"/>
          </a:xfrm>
          <a:prstGeom prst="rect">
            <a:avLst/>
          </a:prstGeom>
          <a:noFill/>
        </p:spPr>
        <p:txBody>
          <a:bodyPr wrap="square">
            <a:spAutoFit/>
          </a:bodyPr>
          <a:lstStyle/>
          <a:p>
            <a:pPr algn="l"/>
            <a:r>
              <a:rPr sz="1200" b="0" i="0">
                <a:solidFill>
                  <a:srgbClr val="A09E98"/>
                </a:solidFill>
                <a:latin typeface="Calibri"/>
              </a:rPr>
              <a:t>Posición en recuerdo</a:t>
            </a:r>
          </a:p>
        </p:txBody>
      </p:sp>
      <p:sp>
        <p:nvSpPr>
          <p:cNvPr id="32" name="TextBox 31"/>
          <p:cNvSpPr txBox="1"/>
          <p:nvPr/>
        </p:nvSpPr>
        <p:spPr>
          <a:xfrm>
            <a:off x="3154680" y="5074920"/>
            <a:ext cx="2468880" cy="530352"/>
          </a:xfrm>
          <a:prstGeom prst="rect">
            <a:avLst/>
          </a:prstGeom>
          <a:noFill/>
        </p:spPr>
        <p:txBody>
          <a:bodyPr wrap="square">
            <a:spAutoFit/>
          </a:bodyPr>
          <a:lstStyle/>
          <a:p>
            <a:pPr algn="ctr"/>
            <a:r>
              <a:rPr sz="1300" b="0" i="0">
                <a:solidFill>
                  <a:srgbClr val="C06060"/>
                </a:solidFill>
                <a:latin typeface="Calibri"/>
              </a:rPr>
              <a:t>⚠ Bajo umbral efectivo</a:t>
            </a:r>
          </a:p>
        </p:txBody>
      </p:sp>
      <p:sp>
        <p:nvSpPr>
          <p:cNvPr id="33" name="TextBox 32"/>
          <p:cNvSpPr txBox="1"/>
          <p:nvPr/>
        </p:nvSpPr>
        <p:spPr>
          <a:xfrm>
            <a:off x="6035040" y="5074920"/>
            <a:ext cx="5669280" cy="530352"/>
          </a:xfrm>
          <a:prstGeom prst="rect">
            <a:avLst/>
          </a:prstGeom>
          <a:noFill/>
        </p:spPr>
        <p:txBody>
          <a:bodyPr wrap="square">
            <a:spAutoFit/>
          </a:bodyPr>
          <a:lstStyle/>
          <a:p>
            <a:pPr algn="ctr"/>
            <a:r>
              <a:rPr sz="1300" b="1" i="0">
                <a:solidFill>
                  <a:srgbClr val="FFFFFF"/>
                </a:solidFill>
                <a:latin typeface="Calibri"/>
              </a:rPr>
              <a:t>✓ Rango máximo eficacia</a:t>
            </a:r>
          </a:p>
        </p:txBody>
      </p:sp>
      <p:sp>
        <p:nvSpPr>
          <p:cNvPr id="34" name="Rectangle 33"/>
          <p:cNvSpPr/>
          <p:nvPr/>
        </p:nvSpPr>
        <p:spPr>
          <a:xfrm>
            <a:off x="365760" y="5687568"/>
            <a:ext cx="5394960" cy="621792"/>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43600" y="5687568"/>
            <a:ext cx="5852160" cy="621792"/>
          </a:xfrm>
          <a:prstGeom prst="rect">
            <a:avLst/>
          </a:prstGeom>
          <a:solidFill>
            <a:srgbClr val="032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5733288"/>
            <a:ext cx="2560320" cy="530352"/>
          </a:xfrm>
          <a:prstGeom prst="rect">
            <a:avLst/>
          </a:prstGeom>
          <a:noFill/>
        </p:spPr>
        <p:txBody>
          <a:bodyPr wrap="square">
            <a:spAutoFit/>
          </a:bodyPr>
          <a:lstStyle/>
          <a:p>
            <a:pPr algn="l"/>
            <a:r>
              <a:rPr sz="1200" b="0" i="0">
                <a:solidFill>
                  <a:srgbClr val="A09E98"/>
                </a:solidFill>
                <a:latin typeface="Calibri"/>
              </a:rPr>
              <a:t>Planificación</a:t>
            </a:r>
          </a:p>
        </p:txBody>
      </p:sp>
      <p:sp>
        <p:nvSpPr>
          <p:cNvPr id="37" name="TextBox 36"/>
          <p:cNvSpPr txBox="1"/>
          <p:nvPr/>
        </p:nvSpPr>
        <p:spPr>
          <a:xfrm>
            <a:off x="3154680" y="5733288"/>
            <a:ext cx="2468880" cy="530352"/>
          </a:xfrm>
          <a:prstGeom prst="rect">
            <a:avLst/>
          </a:prstGeom>
          <a:noFill/>
        </p:spPr>
        <p:txBody>
          <a:bodyPr wrap="square">
            <a:spAutoFit/>
          </a:bodyPr>
          <a:lstStyle/>
          <a:p>
            <a:pPr algn="ctr"/>
            <a:r>
              <a:rPr sz="1300" b="0" i="0">
                <a:solidFill>
                  <a:srgbClr val="C06060"/>
                </a:solidFill>
                <a:latin typeface="Calibri"/>
              </a:rPr>
              <a:t>Por segundo / vuelo corto</a:t>
            </a:r>
          </a:p>
        </p:txBody>
      </p:sp>
      <p:sp>
        <p:nvSpPr>
          <p:cNvPr id="38" name="TextBox 37"/>
          <p:cNvSpPr txBox="1"/>
          <p:nvPr/>
        </p:nvSpPr>
        <p:spPr>
          <a:xfrm>
            <a:off x="6035040" y="5733288"/>
            <a:ext cx="5669280" cy="530352"/>
          </a:xfrm>
          <a:prstGeom prst="rect">
            <a:avLst/>
          </a:prstGeom>
          <a:noFill/>
        </p:spPr>
        <p:txBody>
          <a:bodyPr wrap="square">
            <a:spAutoFit/>
          </a:bodyPr>
          <a:lstStyle/>
          <a:p>
            <a:pPr algn="ctr"/>
            <a:r>
              <a:rPr sz="1300" b="0" i="0">
                <a:solidFill>
                  <a:srgbClr val="FFFFFF"/>
                </a:solidFill>
                <a:latin typeface="Calibri"/>
              </a:rPr>
              <a:t>Frecuencia + continuidad</a:t>
            </a:r>
          </a:p>
        </p:txBody>
      </p:sp>
      <p:sp>
        <p:nvSpPr>
          <p:cNvPr id="39" name="TextBox 38"/>
          <p:cNvSpPr txBox="1"/>
          <p:nvPr/>
        </p:nvSpPr>
        <p:spPr>
          <a:xfrm>
            <a:off x="365760" y="6400800"/>
            <a:ext cx="11430000" cy="347472"/>
          </a:xfrm>
          <a:prstGeom prst="rect">
            <a:avLst/>
          </a:prstGeom>
          <a:noFill/>
        </p:spPr>
        <p:txBody>
          <a:bodyPr wrap="square">
            <a:spAutoFit/>
          </a:bodyPr>
          <a:lstStyle/>
          <a:p>
            <a:pPr algn="l"/>
            <a:r>
              <a:rPr sz="900" b="0" i="1">
                <a:solidFill>
                  <a:srgbClr val="A09E98"/>
                </a:solidFill>
                <a:latin typeface="Calibri"/>
              </a:rPr>
              <a:t>Fuente: EFI Radio, Neuromedia 2018 · Orden de Publicidad de referencia analizada (OP APEX/Mediamax, junio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40E1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74320"/>
            <a:ext cx="10972800" cy="365760"/>
          </a:xfrm>
          <a:prstGeom prst="rect">
            <a:avLst/>
          </a:prstGeom>
          <a:noFill/>
        </p:spPr>
        <p:txBody>
          <a:bodyPr wrap="square">
            <a:spAutoFit/>
          </a:bodyPr>
          <a:lstStyle/>
          <a:p>
            <a:pPr algn="l"/>
            <a:r>
              <a:rPr sz="1100" b="1" i="0">
                <a:solidFill>
                  <a:srgbClr val="10B981"/>
                </a:solidFill>
                <a:latin typeface="Calibri"/>
              </a:rPr>
              <a:t>LA PROPUESTA MMX RADIO INTERIOR</a:t>
            </a:r>
          </a:p>
        </p:txBody>
      </p:sp>
      <p:sp>
        <p:nvSpPr>
          <p:cNvPr id="4" name="TextBox 3"/>
          <p:cNvSpPr txBox="1"/>
          <p:nvPr/>
        </p:nvSpPr>
        <p:spPr>
          <a:xfrm>
            <a:off x="365760" y="685800"/>
            <a:ext cx="10972800" cy="914400"/>
          </a:xfrm>
          <a:prstGeom prst="rect">
            <a:avLst/>
          </a:prstGeom>
          <a:noFill/>
        </p:spPr>
        <p:txBody>
          <a:bodyPr wrap="square">
            <a:spAutoFit/>
          </a:bodyPr>
          <a:lstStyle/>
          <a:p>
            <a:pPr algn="l"/>
            <a:r>
              <a:rPr b="0" sz="3400" i="0">
                <a:solidFill>
                  <a:srgbClr val="FFFFFF"/>
                </a:solidFill>
                <a:latin typeface="Georgia"/>
              </a:rPr>
              <a:t>27 plazas · 5 regiones · </a:t>
            </a:r>
          </a:p>
          <a:p>
            <a:pPr algn="l"/>
            <a:r>
              <a:rPr b="0" sz="3400" i="1">
                <a:solidFill>
                  <a:srgbClr val="10B981"/>
                </a:solidFill>
                <a:latin typeface="Georgia"/>
              </a:rPr>
              <a:t>frecuencia real.</a:t>
            </a:r>
          </a:p>
        </p:txBody>
      </p:sp>
      <p:sp>
        <p:nvSpPr>
          <p:cNvPr id="5" name="Rectangle 4"/>
          <p:cNvSpPr/>
          <p:nvPr/>
        </p:nvSpPr>
        <p:spPr>
          <a:xfrm>
            <a:off x="365760" y="1828800"/>
            <a:ext cx="2240280" cy="384048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828800"/>
            <a:ext cx="2240280" cy="73152"/>
          </a:xfrm>
          <a:prstGeom prst="rect">
            <a:avLst/>
          </a:prstGeom>
          <a:solidFill>
            <a:srgbClr val="0A7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938528"/>
            <a:ext cx="2011680" cy="502920"/>
          </a:xfrm>
          <a:prstGeom prst="rect">
            <a:avLst/>
          </a:prstGeom>
          <a:noFill/>
        </p:spPr>
        <p:txBody>
          <a:bodyPr wrap="square">
            <a:spAutoFit/>
          </a:bodyPr>
          <a:lstStyle/>
          <a:p>
            <a:pPr algn="l"/>
            <a:r>
              <a:rPr sz="1600" b="1" i="0">
                <a:solidFill>
                  <a:srgbClr val="0A7A68"/>
                </a:solidFill>
                <a:latin typeface="Georgia"/>
              </a:rPr>
              <a:t>NOA</a:t>
            </a:r>
          </a:p>
        </p:txBody>
      </p:sp>
      <p:sp>
        <p:nvSpPr>
          <p:cNvPr id="8" name="TextBox 7"/>
          <p:cNvSpPr txBox="1"/>
          <p:nvPr/>
        </p:nvSpPr>
        <p:spPr>
          <a:xfrm>
            <a:off x="475488" y="2450592"/>
            <a:ext cx="2011680" cy="365760"/>
          </a:xfrm>
          <a:prstGeom prst="rect">
            <a:avLst/>
          </a:prstGeom>
          <a:noFill/>
        </p:spPr>
        <p:txBody>
          <a:bodyPr wrap="square">
            <a:spAutoFit/>
          </a:bodyPr>
          <a:lstStyle/>
          <a:p>
            <a:pPr algn="l"/>
            <a:r>
              <a:rPr sz="1300" b="1" i="0">
                <a:solidFill>
                  <a:srgbClr val="10B981"/>
                </a:solidFill>
                <a:latin typeface="Calibri"/>
              </a:rPr>
              <a:t>6 plazas</a:t>
            </a:r>
          </a:p>
        </p:txBody>
      </p:sp>
      <p:sp>
        <p:nvSpPr>
          <p:cNvPr id="9" name="TextBox 8"/>
          <p:cNvSpPr txBox="1"/>
          <p:nvPr/>
        </p:nvSpPr>
        <p:spPr>
          <a:xfrm>
            <a:off x="475488" y="2852928"/>
            <a:ext cx="2011680" cy="2560320"/>
          </a:xfrm>
          <a:prstGeom prst="rect">
            <a:avLst/>
          </a:prstGeom>
          <a:noFill/>
        </p:spPr>
        <p:txBody>
          <a:bodyPr wrap="square">
            <a:spAutoFit/>
          </a:bodyPr>
          <a:lstStyle/>
          <a:p>
            <a:pPr algn="l"/>
            <a:r>
              <a:rPr sz="1100" b="0" i="0">
                <a:solidFill>
                  <a:srgbClr val="A09E98"/>
                </a:solidFill>
                <a:latin typeface="Calibri"/>
              </a:rPr>
              <a:t>Jujuy · Salta · Tucumán
Santiago del Estero · La Rioja · Catamarca</a:t>
            </a:r>
          </a:p>
        </p:txBody>
      </p:sp>
      <p:sp>
        <p:nvSpPr>
          <p:cNvPr id="10" name="Rectangle 9"/>
          <p:cNvSpPr/>
          <p:nvPr/>
        </p:nvSpPr>
        <p:spPr>
          <a:xfrm>
            <a:off x="2724912" y="1828800"/>
            <a:ext cx="2240280" cy="384048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24912" y="1828800"/>
            <a:ext cx="2240280" cy="73152"/>
          </a:xfrm>
          <a:prstGeom prst="rect">
            <a:avLst/>
          </a:prstGeom>
          <a:solidFill>
            <a:srgbClr val="1A7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40" y="1938528"/>
            <a:ext cx="2011680" cy="502920"/>
          </a:xfrm>
          <a:prstGeom prst="rect">
            <a:avLst/>
          </a:prstGeom>
          <a:noFill/>
        </p:spPr>
        <p:txBody>
          <a:bodyPr wrap="square">
            <a:spAutoFit/>
          </a:bodyPr>
          <a:lstStyle/>
          <a:p>
            <a:pPr algn="l"/>
            <a:r>
              <a:rPr sz="1600" b="1" i="0">
                <a:solidFill>
                  <a:srgbClr val="1A7830"/>
                </a:solidFill>
                <a:latin typeface="Georgia"/>
              </a:rPr>
              <a:t>NEA</a:t>
            </a:r>
          </a:p>
        </p:txBody>
      </p:sp>
      <p:sp>
        <p:nvSpPr>
          <p:cNvPr id="13" name="TextBox 12"/>
          <p:cNvSpPr txBox="1"/>
          <p:nvPr/>
        </p:nvSpPr>
        <p:spPr>
          <a:xfrm>
            <a:off x="2834640" y="2450592"/>
            <a:ext cx="2011680" cy="365760"/>
          </a:xfrm>
          <a:prstGeom prst="rect">
            <a:avLst/>
          </a:prstGeom>
          <a:noFill/>
        </p:spPr>
        <p:txBody>
          <a:bodyPr wrap="square">
            <a:spAutoFit/>
          </a:bodyPr>
          <a:lstStyle/>
          <a:p>
            <a:pPr algn="l"/>
            <a:r>
              <a:rPr sz="1300" b="1" i="0">
                <a:solidFill>
                  <a:srgbClr val="10B981"/>
                </a:solidFill>
                <a:latin typeface="Calibri"/>
              </a:rPr>
              <a:t>4 plazas</a:t>
            </a:r>
          </a:p>
        </p:txBody>
      </p:sp>
      <p:sp>
        <p:nvSpPr>
          <p:cNvPr id="14" name="TextBox 13"/>
          <p:cNvSpPr txBox="1"/>
          <p:nvPr/>
        </p:nvSpPr>
        <p:spPr>
          <a:xfrm>
            <a:off x="2834640" y="2852928"/>
            <a:ext cx="2011680" cy="2560320"/>
          </a:xfrm>
          <a:prstGeom prst="rect">
            <a:avLst/>
          </a:prstGeom>
          <a:noFill/>
        </p:spPr>
        <p:txBody>
          <a:bodyPr wrap="square">
            <a:spAutoFit/>
          </a:bodyPr>
          <a:lstStyle/>
          <a:p>
            <a:pPr algn="l"/>
            <a:r>
              <a:rPr sz="1100" b="0" i="0">
                <a:solidFill>
                  <a:srgbClr val="A09E98"/>
                </a:solidFill>
                <a:latin typeface="Calibri"/>
              </a:rPr>
              <a:t>Formosa · Resistencia
Corrientes · Posadas</a:t>
            </a:r>
          </a:p>
        </p:txBody>
      </p:sp>
      <p:sp>
        <p:nvSpPr>
          <p:cNvPr id="15" name="Rectangle 14"/>
          <p:cNvSpPr/>
          <p:nvPr/>
        </p:nvSpPr>
        <p:spPr>
          <a:xfrm>
            <a:off x="5084064" y="1828800"/>
            <a:ext cx="2240280" cy="384048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84064" y="1828800"/>
            <a:ext cx="2240280" cy="73152"/>
          </a:xfrm>
          <a:prstGeom prst="rect">
            <a:avLst/>
          </a:prstGeom>
          <a:solidFill>
            <a:srgbClr val="8A3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3792" y="1938528"/>
            <a:ext cx="2011680" cy="502920"/>
          </a:xfrm>
          <a:prstGeom prst="rect">
            <a:avLst/>
          </a:prstGeom>
          <a:noFill/>
        </p:spPr>
        <p:txBody>
          <a:bodyPr wrap="square">
            <a:spAutoFit/>
          </a:bodyPr>
          <a:lstStyle/>
          <a:p>
            <a:pPr algn="l"/>
            <a:r>
              <a:rPr sz="1600" b="1" i="0">
                <a:solidFill>
                  <a:srgbClr val="8A3018"/>
                </a:solidFill>
                <a:latin typeface="Georgia"/>
              </a:rPr>
              <a:t>Nuevo Cuyo</a:t>
            </a:r>
          </a:p>
        </p:txBody>
      </p:sp>
      <p:sp>
        <p:nvSpPr>
          <p:cNvPr id="18" name="TextBox 17"/>
          <p:cNvSpPr txBox="1"/>
          <p:nvPr/>
        </p:nvSpPr>
        <p:spPr>
          <a:xfrm>
            <a:off x="5193792" y="2450592"/>
            <a:ext cx="2011680" cy="365760"/>
          </a:xfrm>
          <a:prstGeom prst="rect">
            <a:avLst/>
          </a:prstGeom>
          <a:noFill/>
        </p:spPr>
        <p:txBody>
          <a:bodyPr wrap="square">
            <a:spAutoFit/>
          </a:bodyPr>
          <a:lstStyle/>
          <a:p>
            <a:pPr algn="l"/>
            <a:r>
              <a:rPr sz="1300" b="1" i="0">
                <a:solidFill>
                  <a:srgbClr val="10B981"/>
                </a:solidFill>
                <a:latin typeface="Calibri"/>
              </a:rPr>
              <a:t>3 plazas</a:t>
            </a:r>
          </a:p>
        </p:txBody>
      </p:sp>
      <p:sp>
        <p:nvSpPr>
          <p:cNvPr id="19" name="TextBox 18"/>
          <p:cNvSpPr txBox="1"/>
          <p:nvPr/>
        </p:nvSpPr>
        <p:spPr>
          <a:xfrm>
            <a:off x="5193792" y="2852928"/>
            <a:ext cx="2011680" cy="2560320"/>
          </a:xfrm>
          <a:prstGeom prst="rect">
            <a:avLst/>
          </a:prstGeom>
          <a:noFill/>
        </p:spPr>
        <p:txBody>
          <a:bodyPr wrap="square">
            <a:spAutoFit/>
          </a:bodyPr>
          <a:lstStyle/>
          <a:p>
            <a:pPr algn="l"/>
            <a:r>
              <a:rPr sz="1100" b="0" i="0">
                <a:solidFill>
                  <a:srgbClr val="A09E98"/>
                </a:solidFill>
                <a:latin typeface="Calibri"/>
              </a:rPr>
              <a:t>Mendoza · San Juan
San Luis</a:t>
            </a:r>
          </a:p>
        </p:txBody>
      </p:sp>
      <p:sp>
        <p:nvSpPr>
          <p:cNvPr id="20" name="Rectangle 19"/>
          <p:cNvSpPr/>
          <p:nvPr/>
        </p:nvSpPr>
        <p:spPr>
          <a:xfrm>
            <a:off x="7443216" y="1828800"/>
            <a:ext cx="2240280" cy="384048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43216" y="1828800"/>
            <a:ext cx="2240280" cy="73152"/>
          </a:xfrm>
          <a:prstGeom prst="rect">
            <a:avLst/>
          </a:prstGeom>
          <a:solidFill>
            <a:srgbClr val="87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52944" y="1938528"/>
            <a:ext cx="2011680" cy="502920"/>
          </a:xfrm>
          <a:prstGeom prst="rect">
            <a:avLst/>
          </a:prstGeom>
          <a:noFill/>
        </p:spPr>
        <p:txBody>
          <a:bodyPr wrap="square">
            <a:spAutoFit/>
          </a:bodyPr>
          <a:lstStyle/>
          <a:p>
            <a:pPr algn="l"/>
            <a:r>
              <a:rPr sz="1600" b="1" i="0">
                <a:solidFill>
                  <a:srgbClr val="876000"/>
                </a:solidFill>
                <a:latin typeface="Georgia"/>
              </a:rPr>
              <a:t>Centro</a:t>
            </a:r>
          </a:p>
        </p:txBody>
      </p:sp>
      <p:sp>
        <p:nvSpPr>
          <p:cNvPr id="23" name="TextBox 22"/>
          <p:cNvSpPr txBox="1"/>
          <p:nvPr/>
        </p:nvSpPr>
        <p:spPr>
          <a:xfrm>
            <a:off x="7552944" y="2450592"/>
            <a:ext cx="2011680" cy="365760"/>
          </a:xfrm>
          <a:prstGeom prst="rect">
            <a:avLst/>
          </a:prstGeom>
          <a:noFill/>
        </p:spPr>
        <p:txBody>
          <a:bodyPr wrap="square">
            <a:spAutoFit/>
          </a:bodyPr>
          <a:lstStyle/>
          <a:p>
            <a:pPr algn="l"/>
            <a:r>
              <a:rPr sz="1300" b="1" i="0">
                <a:solidFill>
                  <a:srgbClr val="10B981"/>
                </a:solidFill>
                <a:latin typeface="Calibri"/>
              </a:rPr>
              <a:t>8 plazas</a:t>
            </a:r>
          </a:p>
        </p:txBody>
      </p:sp>
      <p:sp>
        <p:nvSpPr>
          <p:cNvPr id="24" name="TextBox 23"/>
          <p:cNvSpPr txBox="1"/>
          <p:nvPr/>
        </p:nvSpPr>
        <p:spPr>
          <a:xfrm>
            <a:off x="7552944" y="2852928"/>
            <a:ext cx="2011680" cy="2560320"/>
          </a:xfrm>
          <a:prstGeom prst="rect">
            <a:avLst/>
          </a:prstGeom>
          <a:noFill/>
        </p:spPr>
        <p:txBody>
          <a:bodyPr wrap="square">
            <a:spAutoFit/>
          </a:bodyPr>
          <a:lstStyle/>
          <a:p>
            <a:pPr algn="l"/>
            <a:r>
              <a:rPr sz="1100" b="0" i="0">
                <a:solidFill>
                  <a:srgbClr val="A09E98"/>
                </a:solidFill>
                <a:latin typeface="Calibri"/>
              </a:rPr>
              <a:t>Córdoba · Rosario · Santa Fe
Paraná · La Plata · Mar del Plata
Bahía Blanca · Santa Rosa</a:t>
            </a:r>
          </a:p>
        </p:txBody>
      </p:sp>
      <p:sp>
        <p:nvSpPr>
          <p:cNvPr id="25" name="Rectangle 24"/>
          <p:cNvSpPr/>
          <p:nvPr/>
        </p:nvSpPr>
        <p:spPr>
          <a:xfrm>
            <a:off x="9802368" y="1828800"/>
            <a:ext cx="2240280" cy="384048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802368" y="1828800"/>
            <a:ext cx="2240280" cy="73152"/>
          </a:xfrm>
          <a:prstGeom prst="rect">
            <a:avLst/>
          </a:prstGeom>
          <a:solidFill>
            <a:srgbClr val="145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12096" y="1938528"/>
            <a:ext cx="2011680" cy="502920"/>
          </a:xfrm>
          <a:prstGeom prst="rect">
            <a:avLst/>
          </a:prstGeom>
          <a:noFill/>
        </p:spPr>
        <p:txBody>
          <a:bodyPr wrap="square">
            <a:spAutoFit/>
          </a:bodyPr>
          <a:lstStyle/>
          <a:p>
            <a:pPr algn="l"/>
            <a:r>
              <a:rPr sz="1600" b="1" i="0">
                <a:solidFill>
                  <a:srgbClr val="145090"/>
                </a:solidFill>
                <a:latin typeface="Georgia"/>
              </a:rPr>
              <a:t>Patagonia</a:t>
            </a:r>
          </a:p>
        </p:txBody>
      </p:sp>
      <p:sp>
        <p:nvSpPr>
          <p:cNvPr id="28" name="TextBox 27"/>
          <p:cNvSpPr txBox="1"/>
          <p:nvPr/>
        </p:nvSpPr>
        <p:spPr>
          <a:xfrm>
            <a:off x="9912096" y="2450592"/>
            <a:ext cx="2011680" cy="365760"/>
          </a:xfrm>
          <a:prstGeom prst="rect">
            <a:avLst/>
          </a:prstGeom>
          <a:noFill/>
        </p:spPr>
        <p:txBody>
          <a:bodyPr wrap="square">
            <a:spAutoFit/>
          </a:bodyPr>
          <a:lstStyle/>
          <a:p>
            <a:pPr algn="l"/>
            <a:r>
              <a:rPr sz="1300" b="1" i="0">
                <a:solidFill>
                  <a:srgbClr val="10B981"/>
                </a:solidFill>
                <a:latin typeface="Calibri"/>
              </a:rPr>
              <a:t>6 plazas</a:t>
            </a:r>
          </a:p>
        </p:txBody>
      </p:sp>
      <p:sp>
        <p:nvSpPr>
          <p:cNvPr id="29" name="TextBox 28"/>
          <p:cNvSpPr txBox="1"/>
          <p:nvPr/>
        </p:nvSpPr>
        <p:spPr>
          <a:xfrm>
            <a:off x="9912096" y="2852928"/>
            <a:ext cx="2011680" cy="2560320"/>
          </a:xfrm>
          <a:prstGeom prst="rect">
            <a:avLst/>
          </a:prstGeom>
          <a:noFill/>
        </p:spPr>
        <p:txBody>
          <a:bodyPr wrap="square">
            <a:spAutoFit/>
          </a:bodyPr>
          <a:lstStyle/>
          <a:p>
            <a:pPr algn="l"/>
            <a:r>
              <a:rPr sz="1100" b="0" i="0">
                <a:solidFill>
                  <a:srgbClr val="A09E98"/>
                </a:solidFill>
                <a:latin typeface="Calibri"/>
              </a:rPr>
              <a:t>Neuquén · Bariloche
Comodoro Rivadavia · Trelew
Río Gallegos · Ushuaia</a:t>
            </a:r>
          </a:p>
        </p:txBody>
      </p:sp>
      <p:sp>
        <p:nvSpPr>
          <p:cNvPr id="30" name="Rectangle 29"/>
          <p:cNvSpPr/>
          <p:nvPr/>
        </p:nvSpPr>
        <p:spPr>
          <a:xfrm>
            <a:off x="365760" y="5760720"/>
            <a:ext cx="11338560" cy="77724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788152"/>
            <a:ext cx="2743200" cy="457200"/>
          </a:xfrm>
          <a:prstGeom prst="rect">
            <a:avLst/>
          </a:prstGeom>
          <a:noFill/>
        </p:spPr>
        <p:txBody>
          <a:bodyPr wrap="square">
            <a:spAutoFit/>
          </a:bodyPr>
          <a:lstStyle/>
          <a:p>
            <a:pPr algn="l"/>
            <a:r>
              <a:rPr sz="2200" b="1" i="0">
                <a:solidFill>
                  <a:srgbClr val="10B981"/>
                </a:solidFill>
                <a:latin typeface="Georgia"/>
              </a:rPr>
              <a:t>7,7M</a:t>
            </a:r>
          </a:p>
        </p:txBody>
      </p:sp>
      <p:sp>
        <p:nvSpPr>
          <p:cNvPr id="32" name="TextBox 31"/>
          <p:cNvSpPr txBox="1"/>
          <p:nvPr/>
        </p:nvSpPr>
        <p:spPr>
          <a:xfrm>
            <a:off x="640080" y="6199632"/>
            <a:ext cx="2743200" cy="274320"/>
          </a:xfrm>
          <a:prstGeom prst="rect">
            <a:avLst/>
          </a:prstGeom>
          <a:noFill/>
        </p:spPr>
        <p:txBody>
          <a:bodyPr wrap="square">
            <a:spAutoFit/>
          </a:bodyPr>
          <a:lstStyle/>
          <a:p>
            <a:pPr algn="l"/>
            <a:r>
              <a:rPr sz="1000" b="0" i="0">
                <a:solidFill>
                  <a:srgbClr val="A09E98"/>
                </a:solidFill>
                <a:latin typeface="Calibri"/>
              </a:rPr>
              <a:t>personas únicas alcanzables</a:t>
            </a:r>
          </a:p>
        </p:txBody>
      </p:sp>
      <p:sp>
        <p:nvSpPr>
          <p:cNvPr id="33" name="TextBox 32"/>
          <p:cNvSpPr txBox="1"/>
          <p:nvPr/>
        </p:nvSpPr>
        <p:spPr>
          <a:xfrm>
            <a:off x="3520439" y="5788152"/>
            <a:ext cx="2743200" cy="457200"/>
          </a:xfrm>
          <a:prstGeom prst="rect">
            <a:avLst/>
          </a:prstGeom>
          <a:noFill/>
        </p:spPr>
        <p:txBody>
          <a:bodyPr wrap="square">
            <a:spAutoFit/>
          </a:bodyPr>
          <a:lstStyle/>
          <a:p>
            <a:pPr algn="l"/>
            <a:r>
              <a:rPr sz="2200" b="1" i="0">
                <a:solidFill>
                  <a:srgbClr val="10B981"/>
                </a:solidFill>
                <a:latin typeface="Georgia"/>
              </a:rPr>
              <a:t>120</a:t>
            </a:r>
          </a:p>
        </p:txBody>
      </p:sp>
      <p:sp>
        <p:nvSpPr>
          <p:cNvPr id="34" name="TextBox 33"/>
          <p:cNvSpPr txBox="1"/>
          <p:nvPr/>
        </p:nvSpPr>
        <p:spPr>
          <a:xfrm>
            <a:off x="3520439" y="6199632"/>
            <a:ext cx="2743200" cy="274320"/>
          </a:xfrm>
          <a:prstGeom prst="rect">
            <a:avLst/>
          </a:prstGeom>
          <a:noFill/>
        </p:spPr>
        <p:txBody>
          <a:bodyPr wrap="square">
            <a:spAutoFit/>
          </a:bodyPr>
          <a:lstStyle/>
          <a:p>
            <a:pPr algn="l"/>
            <a:r>
              <a:rPr sz="1000" b="0" i="0">
                <a:solidFill>
                  <a:srgbClr val="A09E98"/>
                </a:solidFill>
                <a:latin typeface="Calibri"/>
              </a:rPr>
              <a:t>avisos/radio/mes — Plan 4 salidas</a:t>
            </a:r>
          </a:p>
        </p:txBody>
      </p:sp>
      <p:sp>
        <p:nvSpPr>
          <p:cNvPr id="35" name="TextBox 34"/>
          <p:cNvSpPr txBox="1"/>
          <p:nvPr/>
        </p:nvSpPr>
        <p:spPr>
          <a:xfrm>
            <a:off x="6400800" y="5788152"/>
            <a:ext cx="2743200" cy="457200"/>
          </a:xfrm>
          <a:prstGeom prst="rect">
            <a:avLst/>
          </a:prstGeom>
          <a:noFill/>
        </p:spPr>
        <p:txBody>
          <a:bodyPr wrap="square">
            <a:spAutoFit/>
          </a:bodyPr>
          <a:lstStyle/>
          <a:p>
            <a:pPr algn="l"/>
            <a:r>
              <a:rPr sz="2200" b="1" i="0">
                <a:solidFill>
                  <a:srgbClr val="10B981"/>
                </a:solidFill>
                <a:latin typeface="Georgia"/>
              </a:rPr>
              <a:t>~50%</a:t>
            </a:r>
          </a:p>
        </p:txBody>
      </p:sp>
      <p:sp>
        <p:nvSpPr>
          <p:cNvPr id="36" name="TextBox 35"/>
          <p:cNvSpPr txBox="1"/>
          <p:nvPr/>
        </p:nvSpPr>
        <p:spPr>
          <a:xfrm>
            <a:off x="6400800" y="6199632"/>
            <a:ext cx="2743200" cy="274320"/>
          </a:xfrm>
          <a:prstGeom prst="rect">
            <a:avLst/>
          </a:prstGeom>
          <a:noFill/>
        </p:spPr>
        <p:txBody>
          <a:bodyPr wrap="square">
            <a:spAutoFit/>
          </a:bodyPr>
          <a:lstStyle/>
          <a:p>
            <a:pPr algn="l"/>
            <a:r>
              <a:rPr sz="1000" b="0" i="0">
                <a:solidFill>
                  <a:srgbClr val="A09E98"/>
                </a:solidFill>
                <a:latin typeface="Calibri"/>
              </a:rPr>
              <a:t>cobertura promedio de plaza</a:t>
            </a:r>
          </a:p>
        </p:txBody>
      </p:sp>
      <p:sp>
        <p:nvSpPr>
          <p:cNvPr id="37" name="TextBox 36"/>
          <p:cNvSpPr txBox="1"/>
          <p:nvPr/>
        </p:nvSpPr>
        <p:spPr>
          <a:xfrm>
            <a:off x="9281159" y="5788152"/>
            <a:ext cx="2743200" cy="457200"/>
          </a:xfrm>
          <a:prstGeom prst="rect">
            <a:avLst/>
          </a:prstGeom>
          <a:noFill/>
        </p:spPr>
        <p:txBody>
          <a:bodyPr wrap="square">
            <a:spAutoFit/>
          </a:bodyPr>
          <a:lstStyle/>
          <a:p>
            <a:pPr algn="l"/>
            <a:r>
              <a:rPr sz="2200" b="1" i="0">
                <a:solidFill>
                  <a:srgbClr val="10B981"/>
                </a:solidFill>
                <a:latin typeface="Georgia"/>
              </a:rPr>
              <a:t>$7,79</a:t>
            </a:r>
          </a:p>
        </p:txBody>
      </p:sp>
      <p:sp>
        <p:nvSpPr>
          <p:cNvPr id="38" name="TextBox 37"/>
          <p:cNvSpPr txBox="1"/>
          <p:nvPr/>
        </p:nvSpPr>
        <p:spPr>
          <a:xfrm>
            <a:off x="9281159" y="6199632"/>
            <a:ext cx="2743200" cy="274320"/>
          </a:xfrm>
          <a:prstGeom prst="rect">
            <a:avLst/>
          </a:prstGeom>
          <a:noFill/>
        </p:spPr>
        <p:txBody>
          <a:bodyPr wrap="square">
            <a:spAutoFit/>
          </a:bodyPr>
          <a:lstStyle/>
          <a:p>
            <a:pPr algn="l"/>
            <a:r>
              <a:rPr sz="1000" b="0" i="0">
                <a:solidFill>
                  <a:srgbClr val="A09E98"/>
                </a:solidFill>
                <a:latin typeface="Calibri"/>
              </a:rPr>
              <a:t>CPM objetivo ARS/persona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0E8"/>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D4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74320"/>
            <a:ext cx="10972800" cy="365760"/>
          </a:xfrm>
          <a:prstGeom prst="rect">
            <a:avLst/>
          </a:prstGeom>
          <a:noFill/>
        </p:spPr>
        <p:txBody>
          <a:bodyPr wrap="square">
            <a:spAutoFit/>
          </a:bodyPr>
          <a:lstStyle/>
          <a:p>
            <a:pPr algn="l"/>
            <a:r>
              <a:rPr sz="1100" b="1" i="0">
                <a:solidFill>
                  <a:srgbClr val="0D4FA8"/>
                </a:solidFill>
                <a:latin typeface="Calibri"/>
              </a:rPr>
              <a:t>EL ARGUMENTO SEGÚN TU CLIENTE</a:t>
            </a:r>
          </a:p>
        </p:txBody>
      </p:sp>
      <p:sp>
        <p:nvSpPr>
          <p:cNvPr id="4" name="TextBox 3"/>
          <p:cNvSpPr txBox="1"/>
          <p:nvPr/>
        </p:nvSpPr>
        <p:spPr>
          <a:xfrm>
            <a:off x="365760" y="685800"/>
            <a:ext cx="10972800" cy="914400"/>
          </a:xfrm>
          <a:prstGeom prst="rect">
            <a:avLst/>
          </a:prstGeom>
          <a:noFill/>
        </p:spPr>
        <p:txBody>
          <a:bodyPr wrap="square">
            <a:spAutoFit/>
          </a:bodyPr>
          <a:lstStyle/>
          <a:p>
            <a:pPr algn="l"/>
            <a:r>
              <a:rPr b="0" sz="3000" i="0">
                <a:solidFill>
                  <a:srgbClr val="181410"/>
                </a:solidFill>
                <a:latin typeface="Georgia"/>
              </a:rPr>
              <a:t>Tres clientes, </a:t>
            </a:r>
          </a:p>
          <a:p>
            <a:pPr algn="l"/>
            <a:r>
              <a:rPr b="1" sz="3000" i="0">
                <a:solidFill>
                  <a:srgbClr val="0D4FA8"/>
                </a:solidFill>
                <a:latin typeface="Georgia"/>
              </a:rPr>
              <a:t>tres ángulos, un producto.</a:t>
            </a:r>
          </a:p>
        </p:txBody>
      </p:sp>
      <p:sp>
        <p:nvSpPr>
          <p:cNvPr id="5" name="Rectangle 4"/>
          <p:cNvSpPr/>
          <p:nvPr/>
        </p:nvSpPr>
        <p:spPr>
          <a:xfrm>
            <a:off x="365760" y="1828800"/>
            <a:ext cx="3794760" cy="4434840"/>
          </a:xfrm>
          <a:prstGeom prst="rect">
            <a:avLst/>
          </a:prstGeom>
          <a:solidFill>
            <a:srgbClr val="040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828800"/>
            <a:ext cx="379476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920240"/>
            <a:ext cx="3520440" cy="548640"/>
          </a:xfrm>
          <a:prstGeom prst="rect">
            <a:avLst/>
          </a:prstGeom>
          <a:noFill/>
        </p:spPr>
        <p:txBody>
          <a:bodyPr wrap="square">
            <a:spAutoFit/>
          </a:bodyPr>
          <a:lstStyle/>
          <a:p>
            <a:pPr algn="l"/>
            <a:r>
              <a:rPr sz="1400" b="1" i="0">
                <a:solidFill>
                  <a:srgbClr val="10B981"/>
                </a:solidFill>
                <a:latin typeface="Georgia"/>
              </a:rPr>
              <a:t>Dueño de PyME</a:t>
            </a:r>
          </a:p>
        </p:txBody>
      </p:sp>
      <p:sp>
        <p:nvSpPr>
          <p:cNvPr id="8" name="TextBox 7"/>
          <p:cNvSpPr txBox="1"/>
          <p:nvPr/>
        </p:nvSpPr>
        <p:spPr>
          <a:xfrm>
            <a:off x="502920" y="2514600"/>
            <a:ext cx="3520440" cy="1828800"/>
          </a:xfrm>
          <a:prstGeom prst="rect">
            <a:avLst/>
          </a:prstGeom>
          <a:noFill/>
        </p:spPr>
        <p:txBody>
          <a:bodyPr wrap="square">
            <a:spAutoFit/>
          </a:bodyPr>
          <a:lstStyle/>
          <a:p>
            <a:pPr algn="l"/>
            <a:r>
              <a:rPr sz="1100" b="0" i="1">
                <a:solidFill>
                  <a:srgbClr val="8AA0B8"/>
                </a:solidFill>
                <a:latin typeface="Georgia"/>
              </a:rPr>
              <a:t>"Tu competidor de Buenos Aires no llega con su radio. Vos podés estar todos los días en la radio que escucha toda tu ciudad. Por menos de lo que cuesta un aviso en AMBA, sos la marca que todos conocen."</a:t>
            </a:r>
          </a:p>
        </p:txBody>
      </p:sp>
      <p:sp>
        <p:nvSpPr>
          <p:cNvPr id="9" name="TextBox 8"/>
          <p:cNvSpPr txBox="1"/>
          <p:nvPr/>
        </p:nvSpPr>
        <p:spPr>
          <a:xfrm>
            <a:off x="502920" y="4370832"/>
            <a:ext cx="3520440" cy="320040"/>
          </a:xfrm>
          <a:prstGeom prst="rect">
            <a:avLst/>
          </a:prstGeom>
          <a:noFill/>
        </p:spPr>
        <p:txBody>
          <a:bodyPr wrap="square">
            <a:spAutoFit/>
          </a:bodyPr>
          <a:lstStyle/>
          <a:p>
            <a:pPr algn="l"/>
            <a:r>
              <a:rPr sz="1100" b="0" i="0">
                <a:solidFill>
                  <a:srgbClr val="A09E98"/>
                </a:solidFill>
                <a:latin typeface="Calibri"/>
              </a:rPr>
              <a:t>• Sin agencia ni equipo de medios: el plan está listo</a:t>
            </a:r>
          </a:p>
        </p:txBody>
      </p:sp>
      <p:sp>
        <p:nvSpPr>
          <p:cNvPr id="10" name="TextBox 9"/>
          <p:cNvSpPr txBox="1"/>
          <p:nvPr/>
        </p:nvSpPr>
        <p:spPr>
          <a:xfrm>
            <a:off x="502920" y="4709160"/>
            <a:ext cx="3520440" cy="320040"/>
          </a:xfrm>
          <a:prstGeom prst="rect">
            <a:avLst/>
          </a:prstGeom>
          <a:noFill/>
        </p:spPr>
        <p:txBody>
          <a:bodyPr wrap="square">
            <a:spAutoFit/>
          </a:bodyPr>
          <a:lstStyle/>
          <a:p>
            <a:pPr algn="l"/>
            <a:r>
              <a:rPr sz="1100" b="0" i="0">
                <a:solidFill>
                  <a:srgbClr val="A09E98"/>
                </a:solidFill>
                <a:latin typeface="Calibri"/>
              </a:rPr>
              <a:t>• Orden de publicidad simple, sin tecnicismos</a:t>
            </a:r>
          </a:p>
        </p:txBody>
      </p:sp>
      <p:sp>
        <p:nvSpPr>
          <p:cNvPr id="11" name="TextBox 10"/>
          <p:cNvSpPr txBox="1"/>
          <p:nvPr/>
        </p:nvSpPr>
        <p:spPr>
          <a:xfrm>
            <a:off x="502920" y="5047488"/>
            <a:ext cx="3520440" cy="320040"/>
          </a:xfrm>
          <a:prstGeom prst="rect">
            <a:avLst/>
          </a:prstGeom>
          <a:noFill/>
        </p:spPr>
        <p:txBody>
          <a:bodyPr wrap="square">
            <a:spAutoFit/>
          </a:bodyPr>
          <a:lstStyle/>
          <a:p>
            <a:pPr algn="l"/>
            <a:r>
              <a:rPr sz="1100" b="0" i="0">
                <a:solidFill>
                  <a:srgbClr val="A09E98"/>
                </a:solidFill>
                <a:latin typeface="Calibri"/>
              </a:rPr>
              <a:t>• Presencia diaria garantizada desde el primer mes</a:t>
            </a:r>
          </a:p>
        </p:txBody>
      </p:sp>
      <p:sp>
        <p:nvSpPr>
          <p:cNvPr id="12" name="Rectangle 11"/>
          <p:cNvSpPr/>
          <p:nvPr/>
        </p:nvSpPr>
        <p:spPr>
          <a:xfrm>
            <a:off x="4297680" y="1828800"/>
            <a:ext cx="3794760" cy="443484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28800"/>
            <a:ext cx="3794760" cy="64008"/>
          </a:xfrm>
          <a:prstGeom prst="rect">
            <a:avLst/>
          </a:prstGeom>
          <a:solidFill>
            <a:srgbClr val="0D4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920240"/>
            <a:ext cx="3520440" cy="548640"/>
          </a:xfrm>
          <a:prstGeom prst="rect">
            <a:avLst/>
          </a:prstGeom>
          <a:noFill/>
        </p:spPr>
        <p:txBody>
          <a:bodyPr wrap="square">
            <a:spAutoFit/>
          </a:bodyPr>
          <a:lstStyle/>
          <a:p>
            <a:pPr algn="l"/>
            <a:r>
              <a:rPr sz="1400" b="1" i="0">
                <a:solidFill>
                  <a:srgbClr val="FFFFFF"/>
                </a:solidFill>
                <a:latin typeface="Georgia"/>
              </a:rPr>
              <a:t>Director de Marketing
(marca nacional)</a:t>
            </a:r>
          </a:p>
        </p:txBody>
      </p:sp>
      <p:sp>
        <p:nvSpPr>
          <p:cNvPr id="15" name="TextBox 14"/>
          <p:cNvSpPr txBox="1"/>
          <p:nvPr/>
        </p:nvSpPr>
        <p:spPr>
          <a:xfrm>
            <a:off x="4434840" y="2514600"/>
            <a:ext cx="3520440" cy="1828800"/>
          </a:xfrm>
          <a:prstGeom prst="rect">
            <a:avLst/>
          </a:prstGeom>
          <a:noFill/>
        </p:spPr>
        <p:txBody>
          <a:bodyPr wrap="square">
            <a:spAutoFit/>
          </a:bodyPr>
          <a:lstStyle/>
          <a:p>
            <a:pPr algn="l"/>
            <a:r>
              <a:rPr sz="1100" b="0" i="1">
                <a:solidFill>
                  <a:srgbClr val="8AA0B8"/>
                </a:solidFill>
                <a:latin typeface="Georgia"/>
              </a:rPr>
              <a:t>"El 65% de los argentinos vive fuera del AMBA. El interior produce, exporta y consume. Tu presupuesto de medios está siendo eficiente solo con el 35% del mercado."</a:t>
            </a:r>
          </a:p>
        </p:txBody>
      </p:sp>
      <p:sp>
        <p:nvSpPr>
          <p:cNvPr id="16" name="TextBox 15"/>
          <p:cNvSpPr txBox="1"/>
          <p:nvPr/>
        </p:nvSpPr>
        <p:spPr>
          <a:xfrm>
            <a:off x="4434840" y="4370832"/>
            <a:ext cx="3520440" cy="320040"/>
          </a:xfrm>
          <a:prstGeom prst="rect">
            <a:avLst/>
          </a:prstGeom>
          <a:noFill/>
        </p:spPr>
        <p:txBody>
          <a:bodyPr wrap="square">
            <a:spAutoFit/>
          </a:bodyPr>
          <a:lstStyle/>
          <a:p>
            <a:pPr algn="l"/>
            <a:r>
              <a:rPr sz="1100" b="0" i="0">
                <a:solidFill>
                  <a:srgbClr val="A09E98"/>
                </a:solidFill>
                <a:latin typeface="Calibri"/>
              </a:rPr>
              <a:t>• Datos de audiencia locales por plaza</a:t>
            </a:r>
          </a:p>
        </p:txBody>
      </p:sp>
      <p:sp>
        <p:nvSpPr>
          <p:cNvPr id="17" name="TextBox 16"/>
          <p:cNvSpPr txBox="1"/>
          <p:nvPr/>
        </p:nvSpPr>
        <p:spPr>
          <a:xfrm>
            <a:off x="4434840" y="4709160"/>
            <a:ext cx="3520440" cy="320040"/>
          </a:xfrm>
          <a:prstGeom prst="rect">
            <a:avLst/>
          </a:prstGeom>
          <a:noFill/>
        </p:spPr>
        <p:txBody>
          <a:bodyPr wrap="square">
            <a:spAutoFit/>
          </a:bodyPr>
          <a:lstStyle/>
          <a:p>
            <a:pPr algn="l"/>
            <a:r>
              <a:rPr sz="1100" b="0" i="0">
                <a:solidFill>
                  <a:srgbClr val="A09E98"/>
                </a:solidFill>
                <a:latin typeface="Calibri"/>
              </a:rPr>
              <a:t>• CPM comparable al benchmark AMBA</a:t>
            </a:r>
          </a:p>
        </p:txBody>
      </p:sp>
      <p:sp>
        <p:nvSpPr>
          <p:cNvPr id="18" name="TextBox 17"/>
          <p:cNvSpPr txBox="1"/>
          <p:nvPr/>
        </p:nvSpPr>
        <p:spPr>
          <a:xfrm>
            <a:off x="4434840" y="5047488"/>
            <a:ext cx="3520440" cy="320040"/>
          </a:xfrm>
          <a:prstGeom prst="rect">
            <a:avLst/>
          </a:prstGeom>
          <a:noFill/>
        </p:spPr>
        <p:txBody>
          <a:bodyPr wrap="square">
            <a:spAutoFit/>
          </a:bodyPr>
          <a:lstStyle/>
          <a:p>
            <a:pPr algn="l"/>
            <a:r>
              <a:rPr sz="1100" b="0" i="0">
                <a:solidFill>
                  <a:srgbClr val="A09E98"/>
                </a:solidFill>
                <a:latin typeface="Calibri"/>
              </a:rPr>
              <a:t>• Cobertura del 50%+ en cada localidad elegida</a:t>
            </a:r>
          </a:p>
        </p:txBody>
      </p:sp>
      <p:sp>
        <p:nvSpPr>
          <p:cNvPr id="19" name="Rectangle 18"/>
          <p:cNvSpPr/>
          <p:nvPr/>
        </p:nvSpPr>
        <p:spPr>
          <a:xfrm>
            <a:off x="8229600" y="1828800"/>
            <a:ext cx="3794760" cy="4434840"/>
          </a:xfrm>
          <a:prstGeom prst="rect">
            <a:avLst/>
          </a:prstGeom>
          <a:solidFill>
            <a:srgbClr val="040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828800"/>
            <a:ext cx="3794760" cy="64008"/>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920240"/>
            <a:ext cx="3520440" cy="548640"/>
          </a:xfrm>
          <a:prstGeom prst="rect">
            <a:avLst/>
          </a:prstGeom>
          <a:noFill/>
        </p:spPr>
        <p:txBody>
          <a:bodyPr wrap="square">
            <a:spAutoFit/>
          </a:bodyPr>
          <a:lstStyle/>
          <a:p>
            <a:pPr algn="l"/>
            <a:r>
              <a:rPr sz="1400" b="1" i="0">
                <a:solidFill>
                  <a:srgbClr val="10B981"/>
                </a:solidFill>
                <a:latin typeface="Georgia"/>
              </a:rPr>
              <a:t>Planner de Agencia</a:t>
            </a:r>
          </a:p>
        </p:txBody>
      </p:sp>
      <p:sp>
        <p:nvSpPr>
          <p:cNvPr id="22" name="TextBox 21"/>
          <p:cNvSpPr txBox="1"/>
          <p:nvPr/>
        </p:nvSpPr>
        <p:spPr>
          <a:xfrm>
            <a:off x="8366760" y="2514600"/>
            <a:ext cx="3520440" cy="1828800"/>
          </a:xfrm>
          <a:prstGeom prst="rect">
            <a:avLst/>
          </a:prstGeom>
          <a:noFill/>
        </p:spPr>
        <p:txBody>
          <a:bodyPr wrap="square">
            <a:spAutoFit/>
          </a:bodyPr>
          <a:lstStyle/>
          <a:p>
            <a:pPr algn="l"/>
            <a:r>
              <a:rPr sz="1100" b="0" i="1">
                <a:solidFill>
                  <a:srgbClr val="8AA0B8"/>
                </a:solidFill>
                <a:latin typeface="Georgia"/>
              </a:rPr>
              <a:t>"4 salidas diarias en el top 5 de cada plaza = 120 impactos mensuales por radio. En AMBA eso es imposible a este costo. El recuerdo de marca en el interior supera cualquier vuelo táctico."</a:t>
            </a:r>
          </a:p>
        </p:txBody>
      </p:sp>
      <p:sp>
        <p:nvSpPr>
          <p:cNvPr id="23" name="TextBox 22"/>
          <p:cNvSpPr txBox="1"/>
          <p:nvPr/>
        </p:nvSpPr>
        <p:spPr>
          <a:xfrm>
            <a:off x="8366760" y="4370832"/>
            <a:ext cx="3520440" cy="320040"/>
          </a:xfrm>
          <a:prstGeom prst="rect">
            <a:avLst/>
          </a:prstGeom>
          <a:noFill/>
        </p:spPr>
        <p:txBody>
          <a:bodyPr wrap="square">
            <a:spAutoFit/>
          </a:bodyPr>
          <a:lstStyle/>
          <a:p>
            <a:pPr algn="l"/>
            <a:r>
              <a:rPr sz="1100" b="0" i="0">
                <a:solidFill>
                  <a:srgbClr val="A09E98"/>
                </a:solidFill>
                <a:latin typeface="Calibri"/>
              </a:rPr>
              <a:t>• Planificación con datos de reach y CPM</a:t>
            </a:r>
          </a:p>
        </p:txBody>
      </p:sp>
      <p:sp>
        <p:nvSpPr>
          <p:cNvPr id="24" name="TextBox 23"/>
          <p:cNvSpPr txBox="1"/>
          <p:nvPr/>
        </p:nvSpPr>
        <p:spPr>
          <a:xfrm>
            <a:off x="8366760" y="4709160"/>
            <a:ext cx="3520440" cy="320040"/>
          </a:xfrm>
          <a:prstGeom prst="rect">
            <a:avLst/>
          </a:prstGeom>
          <a:noFill/>
        </p:spPr>
        <p:txBody>
          <a:bodyPr wrap="square">
            <a:spAutoFit/>
          </a:bodyPr>
          <a:lstStyle/>
          <a:p>
            <a:pPr algn="l"/>
            <a:r>
              <a:rPr sz="1100" b="0" i="0">
                <a:solidFill>
                  <a:srgbClr val="A09E98"/>
                </a:solidFill>
                <a:latin typeface="Calibri"/>
              </a:rPr>
              <a:t>• Export Excel compatible con sistemas de agencia</a:t>
            </a:r>
          </a:p>
        </p:txBody>
      </p:sp>
      <p:sp>
        <p:nvSpPr>
          <p:cNvPr id="25" name="TextBox 24"/>
          <p:cNvSpPr txBox="1"/>
          <p:nvPr/>
        </p:nvSpPr>
        <p:spPr>
          <a:xfrm>
            <a:off x="8366760" y="5047488"/>
            <a:ext cx="3520440" cy="320040"/>
          </a:xfrm>
          <a:prstGeom prst="rect">
            <a:avLst/>
          </a:prstGeom>
          <a:noFill/>
        </p:spPr>
        <p:txBody>
          <a:bodyPr wrap="square">
            <a:spAutoFit/>
          </a:bodyPr>
          <a:lstStyle/>
          <a:p>
            <a:pPr algn="l"/>
            <a:r>
              <a:rPr sz="1100" b="0" i="0">
                <a:solidFill>
                  <a:srgbClr val="A09E98"/>
                </a:solidFill>
                <a:latin typeface="Calibri"/>
              </a:rPr>
              <a:t>• Estudio EFI Radio: 7-17 contactos = rango de máxima eficacia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40E1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5800" cy="6858000"/>
          </a:xfrm>
          <a:prstGeom prst="rect">
            <a:avLst/>
          </a:prstGeom>
          <a:solidFill>
            <a:srgbClr val="040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502920"/>
            <a:ext cx="10972800" cy="365760"/>
          </a:xfrm>
          <a:prstGeom prst="rect">
            <a:avLst/>
          </a:prstGeom>
          <a:noFill/>
        </p:spPr>
        <p:txBody>
          <a:bodyPr wrap="square">
            <a:spAutoFit/>
          </a:bodyPr>
          <a:lstStyle/>
          <a:p>
            <a:pPr algn="ctr"/>
            <a:r>
              <a:rPr sz="1100" b="1" i="0">
                <a:solidFill>
                  <a:srgbClr val="10B981"/>
                </a:solidFill>
                <a:latin typeface="Calibri"/>
              </a:rPr>
              <a:t>MMX · RADIO INTERIOR ARGENTINA</a:t>
            </a:r>
          </a:p>
        </p:txBody>
      </p:sp>
      <p:sp>
        <p:nvSpPr>
          <p:cNvPr id="5" name="TextBox 4"/>
          <p:cNvSpPr txBox="1"/>
          <p:nvPr/>
        </p:nvSpPr>
        <p:spPr>
          <a:xfrm>
            <a:off x="365760" y="1371600"/>
            <a:ext cx="11338560" cy="2286000"/>
          </a:xfrm>
          <a:prstGeom prst="rect">
            <a:avLst/>
          </a:prstGeom>
          <a:noFill/>
        </p:spPr>
        <p:txBody>
          <a:bodyPr wrap="square">
            <a:spAutoFit/>
          </a:bodyPr>
          <a:lstStyle/>
          <a:p>
            <a:pPr algn="ctr"/>
            <a:r>
              <a:rPr b="0" sz="4200" i="1">
                <a:solidFill>
                  <a:srgbClr val="FFFFFF"/>
                </a:solidFill>
                <a:latin typeface="Georgia"/>
              </a:rPr>
              <a:t>29 millones de personas.</a:t>
            </a:r>
          </a:p>
          <a:p>
            <a:pPr algn="ctr"/>
            <a:r>
              <a:rPr b="0" sz="4200" i="0">
                <a:solidFill>
                  <a:srgbClr val="FFFFFF"/>
                </a:solidFill>
                <a:latin typeface="Georgia"/>
              </a:rPr>
              <a:t>  Presencia real,</a:t>
            </a:r>
          </a:p>
          <a:p>
            <a:pPr algn="ctr"/>
            <a:r>
              <a:rPr b="0" sz="4200" i="1">
                <a:solidFill>
                  <a:srgbClr val="10B981"/>
                </a:solidFill>
                <a:latin typeface="Georgia"/>
              </a:rPr>
              <a:t> todos los días.</a:t>
            </a:r>
          </a:p>
        </p:txBody>
      </p:sp>
      <p:sp>
        <p:nvSpPr>
          <p:cNvPr id="6" name="Rectangle 5"/>
          <p:cNvSpPr/>
          <p:nvPr/>
        </p:nvSpPr>
        <p:spPr>
          <a:xfrm>
            <a:off x="731520" y="3840480"/>
            <a:ext cx="3566160" cy="182880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913632"/>
            <a:ext cx="457200" cy="457200"/>
          </a:xfrm>
          <a:prstGeom prst="rect">
            <a:avLst/>
          </a:prstGeom>
          <a:noFill/>
        </p:spPr>
        <p:txBody>
          <a:bodyPr wrap="square">
            <a:spAutoFit/>
          </a:bodyPr>
          <a:lstStyle/>
          <a:p>
            <a:pPr algn="l"/>
            <a:r>
              <a:rPr sz="1600" b="1" i="0">
                <a:solidFill>
                  <a:srgbClr val="10B981"/>
                </a:solidFill>
                <a:latin typeface="Calibri"/>
              </a:rPr>
              <a:t>◆</a:t>
            </a:r>
          </a:p>
        </p:txBody>
      </p:sp>
      <p:sp>
        <p:nvSpPr>
          <p:cNvPr id="8" name="TextBox 7"/>
          <p:cNvSpPr txBox="1"/>
          <p:nvPr/>
        </p:nvSpPr>
        <p:spPr>
          <a:xfrm>
            <a:off x="868680" y="3913632"/>
            <a:ext cx="3291840" cy="502920"/>
          </a:xfrm>
          <a:prstGeom prst="rect">
            <a:avLst/>
          </a:prstGeom>
          <a:noFill/>
        </p:spPr>
        <p:txBody>
          <a:bodyPr wrap="square">
            <a:spAutoFit/>
          </a:bodyPr>
          <a:lstStyle/>
          <a:p>
            <a:pPr algn="ctr"/>
            <a:r>
              <a:rPr sz="1500" b="1" i="0">
                <a:solidFill>
                  <a:srgbClr val="FFFFFF"/>
                </a:solidFill>
                <a:latin typeface="Georgia"/>
              </a:rPr>
              <a:t>El interior importa</a:t>
            </a:r>
          </a:p>
        </p:txBody>
      </p:sp>
      <p:sp>
        <p:nvSpPr>
          <p:cNvPr id="9" name="TextBox 8"/>
          <p:cNvSpPr txBox="1"/>
          <p:nvPr/>
        </p:nvSpPr>
        <p:spPr>
          <a:xfrm>
            <a:off x="868680" y="4434840"/>
            <a:ext cx="3291840" cy="1097280"/>
          </a:xfrm>
          <a:prstGeom prst="rect">
            <a:avLst/>
          </a:prstGeom>
          <a:noFill/>
        </p:spPr>
        <p:txBody>
          <a:bodyPr wrap="square">
            <a:spAutoFit/>
          </a:bodyPr>
          <a:lstStyle/>
          <a:p>
            <a:pPr algn="ctr"/>
            <a:r>
              <a:rPr sz="1100" b="0" i="0">
                <a:solidFill>
                  <a:srgbClr val="A09E98"/>
                </a:solidFill>
                <a:latin typeface="Calibri"/>
              </a:rPr>
              <a:t>29M personas · exportaciones record · consumo que resiste</a:t>
            </a:r>
          </a:p>
        </p:txBody>
      </p:sp>
      <p:sp>
        <p:nvSpPr>
          <p:cNvPr id="10" name="Rectangle 9"/>
          <p:cNvSpPr/>
          <p:nvPr/>
        </p:nvSpPr>
        <p:spPr>
          <a:xfrm>
            <a:off x="4572000" y="3840480"/>
            <a:ext cx="3566160" cy="182880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3913632"/>
            <a:ext cx="457200" cy="457200"/>
          </a:xfrm>
          <a:prstGeom prst="rect">
            <a:avLst/>
          </a:prstGeom>
          <a:noFill/>
        </p:spPr>
        <p:txBody>
          <a:bodyPr wrap="square">
            <a:spAutoFit/>
          </a:bodyPr>
          <a:lstStyle/>
          <a:p>
            <a:pPr algn="l"/>
            <a:r>
              <a:rPr sz="1600" b="1" i="0">
                <a:solidFill>
                  <a:srgbClr val="10B981"/>
                </a:solidFill>
                <a:latin typeface="Calibri"/>
              </a:rPr>
              <a:t>◆</a:t>
            </a:r>
          </a:p>
        </p:txBody>
      </p:sp>
      <p:sp>
        <p:nvSpPr>
          <p:cNvPr id="12" name="TextBox 11"/>
          <p:cNvSpPr txBox="1"/>
          <p:nvPr/>
        </p:nvSpPr>
        <p:spPr>
          <a:xfrm>
            <a:off x="4709160" y="3913632"/>
            <a:ext cx="3291840" cy="502920"/>
          </a:xfrm>
          <a:prstGeom prst="rect">
            <a:avLst/>
          </a:prstGeom>
          <a:noFill/>
        </p:spPr>
        <p:txBody>
          <a:bodyPr wrap="square">
            <a:spAutoFit/>
          </a:bodyPr>
          <a:lstStyle/>
          <a:p>
            <a:pPr algn="ctr"/>
            <a:r>
              <a:rPr sz="1500" b="1" i="0">
                <a:solidFill>
                  <a:srgbClr val="FFFFFF"/>
                </a:solidFill>
                <a:latin typeface="Georgia"/>
              </a:rPr>
              <a:t>La radio local conecta</a:t>
            </a:r>
          </a:p>
        </p:txBody>
      </p:sp>
      <p:sp>
        <p:nvSpPr>
          <p:cNvPr id="13" name="TextBox 12"/>
          <p:cNvSpPr txBox="1"/>
          <p:nvPr/>
        </p:nvSpPr>
        <p:spPr>
          <a:xfrm>
            <a:off x="4709160" y="4434840"/>
            <a:ext cx="3291840" cy="1097280"/>
          </a:xfrm>
          <a:prstGeom prst="rect">
            <a:avLst/>
          </a:prstGeom>
          <a:noFill/>
        </p:spPr>
        <p:txBody>
          <a:bodyPr wrap="square">
            <a:spAutoFit/>
          </a:bodyPr>
          <a:lstStyle/>
          <a:p>
            <a:pPr algn="ctr"/>
            <a:r>
              <a:rPr sz="1100" b="0" i="0">
                <a:solidFill>
                  <a:srgbClr val="A09E98"/>
                </a:solidFill>
                <a:latin typeface="Calibri"/>
              </a:rPr>
              <a:t>6h diarias de escucha · 99% reach semanal · confianza local</a:t>
            </a:r>
          </a:p>
        </p:txBody>
      </p:sp>
      <p:sp>
        <p:nvSpPr>
          <p:cNvPr id="14" name="Rectangle 13"/>
          <p:cNvSpPr/>
          <p:nvPr/>
        </p:nvSpPr>
        <p:spPr>
          <a:xfrm>
            <a:off x="8412480" y="3840480"/>
            <a:ext cx="3566160" cy="1828800"/>
          </a:xfrm>
          <a:prstGeom prst="rect">
            <a:avLst/>
          </a:prstGeom>
          <a:solidFill>
            <a:srgbClr val="0A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3913632"/>
            <a:ext cx="457200" cy="457200"/>
          </a:xfrm>
          <a:prstGeom prst="rect">
            <a:avLst/>
          </a:prstGeom>
          <a:noFill/>
        </p:spPr>
        <p:txBody>
          <a:bodyPr wrap="square">
            <a:spAutoFit/>
          </a:bodyPr>
          <a:lstStyle/>
          <a:p>
            <a:pPr algn="l"/>
            <a:r>
              <a:rPr sz="1600" b="1" i="0">
                <a:solidFill>
                  <a:srgbClr val="10B981"/>
                </a:solidFill>
                <a:latin typeface="Calibri"/>
              </a:rPr>
              <a:t>◆</a:t>
            </a:r>
          </a:p>
        </p:txBody>
      </p:sp>
      <p:sp>
        <p:nvSpPr>
          <p:cNvPr id="16" name="TextBox 15"/>
          <p:cNvSpPr txBox="1"/>
          <p:nvPr/>
        </p:nvSpPr>
        <p:spPr>
          <a:xfrm>
            <a:off x="8549640" y="3913632"/>
            <a:ext cx="3291840" cy="502920"/>
          </a:xfrm>
          <a:prstGeom prst="rect">
            <a:avLst/>
          </a:prstGeom>
          <a:noFill/>
        </p:spPr>
        <p:txBody>
          <a:bodyPr wrap="square">
            <a:spAutoFit/>
          </a:bodyPr>
          <a:lstStyle/>
          <a:p>
            <a:pPr algn="ctr"/>
            <a:r>
              <a:rPr sz="1500" b="1" i="0">
                <a:solidFill>
                  <a:srgbClr val="FFFFFF"/>
                </a:solidFill>
                <a:latin typeface="Georgia"/>
              </a:rPr>
              <a:t>La frecuencia convierte</a:t>
            </a:r>
          </a:p>
        </p:txBody>
      </p:sp>
      <p:sp>
        <p:nvSpPr>
          <p:cNvPr id="17" name="TextBox 16"/>
          <p:cNvSpPr txBox="1"/>
          <p:nvPr/>
        </p:nvSpPr>
        <p:spPr>
          <a:xfrm>
            <a:off x="8549640" y="4434840"/>
            <a:ext cx="3291840" cy="1097280"/>
          </a:xfrm>
          <a:prstGeom prst="rect">
            <a:avLst/>
          </a:prstGeom>
          <a:noFill/>
        </p:spPr>
        <p:txBody>
          <a:bodyPr wrap="square">
            <a:spAutoFit/>
          </a:bodyPr>
          <a:lstStyle/>
          <a:p>
            <a:pPr algn="ctr"/>
            <a:r>
              <a:rPr sz="1100" b="0" i="0">
                <a:solidFill>
                  <a:srgbClr val="A09E98"/>
                </a:solidFill>
                <a:latin typeface="Calibri"/>
              </a:rPr>
              <a:t>120 avisos/mes · rango de máxima eficacia · ROI 6-7x</a:t>
            </a:r>
          </a:p>
        </p:txBody>
      </p:sp>
      <p:sp>
        <p:nvSpPr>
          <p:cNvPr id="18" name="TextBox 17"/>
          <p:cNvSpPr txBox="1"/>
          <p:nvPr/>
        </p:nvSpPr>
        <p:spPr>
          <a:xfrm>
            <a:off x="457200" y="5943600"/>
            <a:ext cx="11247120" cy="502920"/>
          </a:xfrm>
          <a:prstGeom prst="rect">
            <a:avLst/>
          </a:prstGeom>
          <a:noFill/>
        </p:spPr>
        <p:txBody>
          <a:bodyPr wrap="square">
            <a:spAutoFit/>
          </a:bodyPr>
          <a:lstStyle/>
          <a:p>
            <a:pPr algn="ctr"/>
            <a:r>
              <a:rPr sz="900" b="0" i="1">
                <a:solidFill>
                  <a:srgbClr val="3A5A7A"/>
                </a:solidFill>
                <a:latin typeface="Calibri"/>
              </a:rPr>
              <a:t>Datos: INDEC Censo 2022 · Kantar IBOPE Media 2023 · Nielsen Catalina Solutions · EFI Radio Neuromedia/TRES14 Research 2018 · INDEC exportaciones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